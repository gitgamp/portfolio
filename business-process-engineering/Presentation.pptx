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7" r:id="rId2"/>
    <p:sldId id="473" r:id="rId3"/>
    <p:sldId id="448" r:id="rId4"/>
    <p:sldId id="495" r:id="rId5"/>
    <p:sldId id="490" r:id="rId6"/>
    <p:sldId id="452" r:id="rId7"/>
    <p:sldId id="471" r:id="rId8"/>
    <p:sldId id="491" r:id="rId9"/>
    <p:sldId id="493" r:id="rId10"/>
    <p:sldId id="469" r:id="rId11"/>
    <p:sldId id="470" r:id="rId12"/>
    <p:sldId id="293" r:id="rId13"/>
  </p:sldIdLst>
  <p:sldSz cx="12192000" cy="6858000"/>
  <p:notesSz cx="6858000" cy="9144000"/>
  <p:embeddedFontLst>
    <p:embeddedFont>
      <p:font typeface="맑은 고딕" panose="020B0503020000020004" pitchFamily="34" charset="-127"/>
      <p:regular r:id="rId16"/>
      <p:bold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0DD"/>
    <a:srgbClr val="F3F1DE"/>
    <a:srgbClr val="F4C876"/>
    <a:srgbClr val="00B050"/>
    <a:srgbClr val="3396A7"/>
    <a:srgbClr val="F1771B"/>
    <a:srgbClr val="FF8585"/>
    <a:srgbClr val="FFD966"/>
    <a:srgbClr val="F3ECD9"/>
    <a:srgbClr val="D57C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1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05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9230B0E-39ED-45EA-AD95-669D0616B3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82B798-201A-4B14-B1F0-6A660C5C72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2F5857-B39B-4284-A086-C6DE2719C9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3EF34-7656-4396-AEBE-2B554E5E9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782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hyperlink" Target="http://pptmon.com/" TargetMode="External"/><Relationship Id="rId16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8.png"/><Relationship Id="rId5" Type="http://schemas.openxmlformats.org/officeDocument/2006/relationships/hyperlink" Target="https://pptmon.com/" TargetMode="External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3.sv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18.png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12.png"/><Relationship Id="rId4" Type="http://schemas.openxmlformats.org/officeDocument/2006/relationships/image" Target="../media/image3.svg"/><Relationship Id="rId9" Type="http://schemas.openxmlformats.org/officeDocument/2006/relationships/image" Target="../media/image17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22.png"/><Relationship Id="rId4" Type="http://schemas.openxmlformats.org/officeDocument/2006/relationships/image" Target="../media/image3.svg"/><Relationship Id="rId9" Type="http://schemas.openxmlformats.org/officeDocument/2006/relationships/image" Target="../media/image21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24.png"/><Relationship Id="rId4" Type="http://schemas.openxmlformats.org/officeDocument/2006/relationships/image" Target="../media/image3.svg"/><Relationship Id="rId9" Type="http://schemas.openxmlformats.org/officeDocument/2006/relationships/image" Target="../media/image23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22.png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25.png"/><Relationship Id="rId4" Type="http://schemas.openxmlformats.org/officeDocument/2006/relationships/image" Target="../media/image3.svg"/><Relationship Id="rId9" Type="http://schemas.openxmlformats.org/officeDocument/2006/relationships/image" Target="../media/image14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24.png"/><Relationship Id="rId4" Type="http://schemas.openxmlformats.org/officeDocument/2006/relationships/image" Target="../media/image3.svg"/><Relationship Id="rId9" Type="http://schemas.openxmlformats.org/officeDocument/2006/relationships/image" Target="../media/image23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12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11" Type="http://schemas.openxmlformats.org/officeDocument/2006/relationships/image" Target="../media/image18.png"/><Relationship Id="rId5" Type="http://schemas.openxmlformats.org/officeDocument/2006/relationships/image" Target="../media/image3.sv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14.png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12" Type="http://schemas.openxmlformats.org/officeDocument/2006/relationships/image" Target="../media/image9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27.png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25.png"/><Relationship Id="rId4" Type="http://schemas.openxmlformats.org/officeDocument/2006/relationships/image" Target="../media/image3.svg"/><Relationship Id="rId9" Type="http://schemas.openxmlformats.org/officeDocument/2006/relationships/image" Target="../media/image14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11.png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3.svg"/><Relationship Id="rId9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18.png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3.svg"/><Relationship Id="rId9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18.png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12.png"/><Relationship Id="rId4" Type="http://schemas.openxmlformats.org/officeDocument/2006/relationships/image" Target="../media/image3.svg"/><Relationship Id="rId9" Type="http://schemas.openxmlformats.org/officeDocument/2006/relationships/image" Target="../media/image17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0.png"/><Relationship Id="rId7" Type="http://schemas.openxmlformats.org/officeDocument/2006/relationships/hyperlink" Target="http://pptmon.com/" TargetMode="External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hyperlink" Target="http://www.pptmon.com/" TargetMode="External"/><Relationship Id="rId5" Type="http://schemas.openxmlformats.org/officeDocument/2006/relationships/image" Target="../media/image22.png"/><Relationship Id="rId10" Type="http://schemas.openxmlformats.org/officeDocument/2006/relationships/hyperlink" Target="https://pptmon.com/" TargetMode="External"/><Relationship Id="rId4" Type="http://schemas.openxmlformats.org/officeDocument/2006/relationships/image" Target="../media/image21.png"/><Relationship Id="rId9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hyperlink" Target="https://pptmon.com/" TargetMode="External"/><Relationship Id="rId3" Type="http://schemas.openxmlformats.org/officeDocument/2006/relationships/image" Target="../media/image18.png"/><Relationship Id="rId7" Type="http://schemas.openxmlformats.org/officeDocument/2006/relationships/image" Target="../media/image3.svg"/><Relationship Id="rId12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hyperlink" Target="http://pptmon.com/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26.png"/><Relationship Id="rId9" Type="http://schemas.openxmlformats.org/officeDocument/2006/relationships/hyperlink" Target="http://www.pptmon.com/" TargetMode="Externa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hyperlink" Target="https://pptmon.com/" TargetMode="External"/><Relationship Id="rId13" Type="http://schemas.openxmlformats.org/officeDocument/2006/relationships/image" Target="../media/image15.png"/><Relationship Id="rId3" Type="http://schemas.openxmlformats.org/officeDocument/2006/relationships/image" Target="../media/image22.png"/><Relationship Id="rId7" Type="http://schemas.openxmlformats.org/officeDocument/2006/relationships/image" Target="../media/image3.svg"/><Relationship Id="rId12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27.png"/><Relationship Id="rId5" Type="http://schemas.openxmlformats.org/officeDocument/2006/relationships/hyperlink" Target="http://pptmon.com/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25.png"/><Relationship Id="rId9" Type="http://schemas.openxmlformats.org/officeDocument/2006/relationships/hyperlink" Target="http://www.pptmon.com/" TargetMode="Externa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hyperlink" Target="http://pptmon.com/" TargetMode="External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hyperlink" Target="http://www.pptmon.com/" TargetMode="External"/><Relationship Id="rId5" Type="http://schemas.openxmlformats.org/officeDocument/2006/relationships/image" Target="../media/image10.png"/><Relationship Id="rId10" Type="http://schemas.openxmlformats.org/officeDocument/2006/relationships/hyperlink" Target="https://pptmon.com/" TargetMode="External"/><Relationship Id="rId4" Type="http://schemas.openxmlformats.org/officeDocument/2006/relationships/image" Target="../media/image8.png"/><Relationship Id="rId9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11.png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3.svg"/><Relationship Id="rId9" Type="http://schemas.openxmlformats.org/officeDocument/2006/relationships/image" Target="../media/image12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hyperlink" Target="http://pptmon.com/" TargetMode="External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hyperlink" Target="http://www.pptmon.com/" TargetMode="External"/><Relationship Id="rId5" Type="http://schemas.openxmlformats.org/officeDocument/2006/relationships/image" Target="../media/image6.png"/><Relationship Id="rId10" Type="http://schemas.openxmlformats.org/officeDocument/2006/relationships/hyperlink" Target="https://pptmon.com/" TargetMode="External"/><Relationship Id="rId4" Type="http://schemas.openxmlformats.org/officeDocument/2006/relationships/image" Target="../media/image7.png"/><Relationship Id="rId9" Type="http://schemas.openxmlformats.org/officeDocument/2006/relationships/image" Target="../media/image3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">
            <a:hlinkClick r:id="rId2"/>
            <a:extLst>
              <a:ext uri="{FF2B5EF4-FFF2-40B4-BE49-F238E27FC236}">
                <a16:creationId xmlns:a16="http://schemas.microsoft.com/office/drawing/2014/main" id="{6B66F7F8-316E-42EF-B618-F712E2797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17" name="TextBox 16">
            <a:hlinkClick r:id="rId5"/>
            <a:extLst>
              <a:ext uri="{FF2B5EF4-FFF2-40B4-BE49-F238E27FC236}">
                <a16:creationId xmlns:a16="http://schemas.microsoft.com/office/drawing/2014/main" id="{0757FC3F-564C-4563-A19D-8CAE7E7E53E0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2D5BA89A-E2A1-4DBA-A23F-3D46288700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65" r="21661"/>
          <a:stretch/>
        </p:blipFill>
        <p:spPr>
          <a:xfrm>
            <a:off x="9802415" y="0"/>
            <a:ext cx="2389585" cy="212988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24B26CE-3232-4135-8237-69BCABD3EB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61" r="7009"/>
          <a:stretch/>
        </p:blipFill>
        <p:spPr>
          <a:xfrm>
            <a:off x="5816435" y="0"/>
            <a:ext cx="6375565" cy="1153737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E4B77BB2-EFF6-42D2-8EC6-F9E40A579D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3" b="44775"/>
          <a:stretch/>
        </p:blipFill>
        <p:spPr>
          <a:xfrm>
            <a:off x="0" y="5534628"/>
            <a:ext cx="2809104" cy="1323372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BDAC98DE-01CE-491D-B736-A54DB6BDB9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2" b="50480"/>
          <a:stretch/>
        </p:blipFill>
        <p:spPr>
          <a:xfrm>
            <a:off x="0" y="5776237"/>
            <a:ext cx="5514788" cy="1081763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4011FAF5-68E3-4EFF-A381-48C4B7816B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4"/>
          <a:stretch/>
        </p:blipFill>
        <p:spPr>
          <a:xfrm>
            <a:off x="0" y="289464"/>
            <a:ext cx="4351179" cy="2898216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956FDAE2-AB0C-4C66-A077-013BA96CB1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636" b="38754"/>
          <a:stretch/>
        </p:blipFill>
        <p:spPr>
          <a:xfrm>
            <a:off x="10325901" y="5534628"/>
            <a:ext cx="1866099" cy="1323372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D54815E2-3FA0-476A-A3F3-B0A323E216F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5984" y="4766649"/>
            <a:ext cx="1084465" cy="941234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D3849B75-927D-4975-A94E-3A196F14494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5077" y="1188609"/>
            <a:ext cx="822556" cy="540186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3E1B70D-8B9C-4B80-8EEA-C8D2D858384D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23" y="4816491"/>
            <a:ext cx="1239973" cy="572925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81B4F31D-3BEC-441D-804D-9873B05B102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635" y="5776237"/>
            <a:ext cx="830741" cy="896218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26A1ADB-7FC5-4237-A439-D48CD7BAB0BA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83" y="259708"/>
            <a:ext cx="699786" cy="67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87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17FBD896-EEE6-48FB-BEA8-ADE0156D57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A16A9D93-1088-47A2-A576-793D0EB19F7E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CE28417-F126-4CFF-91E3-C669EDBF6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73"/>
          <a:stretch/>
        </p:blipFill>
        <p:spPr>
          <a:xfrm>
            <a:off x="11440435" y="1898588"/>
            <a:ext cx="751566" cy="193566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21D2838-AFEF-490F-9D60-BEBE9AFC17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10321810" y="0"/>
            <a:ext cx="1870190" cy="95760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C68E688-95BB-4D52-8633-8FD2ECE417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1" r="-1"/>
          <a:stretch/>
        </p:blipFill>
        <p:spPr>
          <a:xfrm>
            <a:off x="0" y="683026"/>
            <a:ext cx="620399" cy="124079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B6DC6C3-09C6-49CB-AF6E-40AD9BBF0B4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810" y="5956798"/>
            <a:ext cx="1239973" cy="572925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1F26B5C-448C-40F0-9B0F-BC6B9AC9E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0" b="38828"/>
          <a:stretch/>
        </p:blipFill>
        <p:spPr>
          <a:xfrm>
            <a:off x="1" y="5237238"/>
            <a:ext cx="2628900" cy="162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9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AE72B1F2-D2E0-4DB6-9732-0CCC15DCD0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C24207B-03E3-44D6-A40C-69E2F18B370F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663A7A1-9463-45B0-9EB2-DC227562D3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3" t="4789"/>
          <a:stretch/>
        </p:blipFill>
        <p:spPr>
          <a:xfrm rot="5400000">
            <a:off x="10273516" y="-602460"/>
            <a:ext cx="1316023" cy="252094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B4FC0A2-6901-4349-AEFF-BCA16820F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1737120" y="0"/>
            <a:ext cx="1303624" cy="65181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235363F-9A29-4576-9882-A7A8901CA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85"/>
          <a:stretch/>
        </p:blipFill>
        <p:spPr>
          <a:xfrm>
            <a:off x="1025107" y="6072274"/>
            <a:ext cx="1208286" cy="78572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DA8E5CD-F513-408B-B2BD-3FAE23384E1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86549"/>
            <a:ext cx="1538712" cy="157145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9306F60-50D6-45C9-9C32-5D969806B71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27" y="658011"/>
            <a:ext cx="1084465" cy="94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315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3">
            <a:hlinkClick r:id="rId2"/>
            <a:extLst>
              <a:ext uri="{FF2B5EF4-FFF2-40B4-BE49-F238E27FC236}">
                <a16:creationId xmlns:a16="http://schemas.microsoft.com/office/drawing/2014/main" id="{23C8A670-ECFD-49A2-8071-12DB2BC483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5"/>
            <a:extLst>
              <a:ext uri="{FF2B5EF4-FFF2-40B4-BE49-F238E27FC236}">
                <a16:creationId xmlns:a16="http://schemas.microsoft.com/office/drawing/2014/main" id="{D869B25A-EBE6-43B7-B789-176A4B07F731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9CD0CFE-9250-4074-A026-323939622C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60"/>
          <a:stretch/>
        </p:blipFill>
        <p:spPr>
          <a:xfrm>
            <a:off x="0" y="5426748"/>
            <a:ext cx="2593812" cy="139937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7153100-839E-45EA-9360-C92EDA4CBC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49" b="27181"/>
          <a:stretch/>
        </p:blipFill>
        <p:spPr>
          <a:xfrm flipV="1">
            <a:off x="8586592" y="-1"/>
            <a:ext cx="3605408" cy="97318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6A61090-3EBE-444C-A26C-76F654E65F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396" b="19104"/>
          <a:stretch/>
        </p:blipFill>
        <p:spPr>
          <a:xfrm>
            <a:off x="9598188" y="4474423"/>
            <a:ext cx="2593812" cy="238357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41B0AEB-E91F-405B-AC8E-1D40DC1F27E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01" y="0"/>
            <a:ext cx="15555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381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A505BD58-8C6E-48B4-902D-41672E1EC6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943846CD-E9CA-4673-A79C-73E43A4FC447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F85EDF6-6F4F-4383-A5BA-2F761913EB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9" b="20709"/>
          <a:stretch/>
        </p:blipFill>
        <p:spPr>
          <a:xfrm>
            <a:off x="0" y="4758589"/>
            <a:ext cx="1322936" cy="209941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ACD09D8-B83E-43D6-A6BB-E22870E4E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1322936" y="0"/>
            <a:ext cx="1240799" cy="620399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76ECACD9-F064-434D-B9A1-0C501572C8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61" y="5798886"/>
            <a:ext cx="699786" cy="67523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D7DFE4A7-EECC-475E-AEB7-09B5D3A9EC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87" t="8606"/>
          <a:stretch/>
        </p:blipFill>
        <p:spPr>
          <a:xfrm rot="5400000">
            <a:off x="10213943" y="-7970"/>
            <a:ext cx="1970087" cy="198602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FAADDA32-6DA7-40F9-A1EF-8776CDB776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830"/>
          <a:stretch/>
        </p:blipFill>
        <p:spPr>
          <a:xfrm>
            <a:off x="11620067" y="5286549"/>
            <a:ext cx="571933" cy="157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3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3">
            <a:hlinkClick r:id="rId2"/>
            <a:extLst>
              <a:ext uri="{FF2B5EF4-FFF2-40B4-BE49-F238E27FC236}">
                <a16:creationId xmlns:a16="http://schemas.microsoft.com/office/drawing/2014/main" id="{7E104632-549C-41B0-9B55-8D1A764BFD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5"/>
            <a:extLst>
              <a:ext uri="{FF2B5EF4-FFF2-40B4-BE49-F238E27FC236}">
                <a16:creationId xmlns:a16="http://schemas.microsoft.com/office/drawing/2014/main" id="{AF2A33DE-1EBA-4316-97B4-D1BE1E35E6A0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7239E0E6-FF57-469C-8E8B-5916AF1312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60"/>
          <a:stretch/>
        </p:blipFill>
        <p:spPr>
          <a:xfrm flipH="1">
            <a:off x="9598188" y="5426748"/>
            <a:ext cx="2593812" cy="1399375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85A81436-0206-475F-A3E2-33C4C40FBA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49" b="27181"/>
          <a:stretch/>
        </p:blipFill>
        <p:spPr>
          <a:xfrm flipH="1" flipV="1">
            <a:off x="0" y="-1"/>
            <a:ext cx="3605408" cy="973183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F01546BF-23F6-447F-AED6-FA3A65E1A1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396" b="19104"/>
          <a:stretch/>
        </p:blipFill>
        <p:spPr>
          <a:xfrm flipH="1">
            <a:off x="0" y="4474423"/>
            <a:ext cx="2593812" cy="238357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D1F8E1EF-EB7B-4257-A56B-8E4151185972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95497" y="0"/>
            <a:ext cx="15555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47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9B8B5537-E657-472C-8C6B-F9FB479D70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5" b="27178"/>
          <a:stretch/>
        </p:blipFill>
        <p:spPr>
          <a:xfrm>
            <a:off x="0" y="5111662"/>
            <a:ext cx="1465716" cy="1746338"/>
          </a:xfrm>
          <a:prstGeom prst="rect">
            <a:avLst/>
          </a:prstGeom>
        </p:spPr>
      </p:pic>
      <p:pic>
        <p:nvPicPr>
          <p:cNvPr id="6" name="Graphic 3">
            <a:hlinkClick r:id="rId3"/>
            <a:extLst>
              <a:ext uri="{FF2B5EF4-FFF2-40B4-BE49-F238E27FC236}">
                <a16:creationId xmlns:a16="http://schemas.microsoft.com/office/drawing/2014/main" id="{900043BE-6C63-4086-94B1-132FAA1375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6"/>
            <a:extLst>
              <a:ext uri="{FF2B5EF4-FFF2-40B4-BE49-F238E27FC236}">
                <a16:creationId xmlns:a16="http://schemas.microsoft.com/office/drawing/2014/main" id="{B2A73F95-ECB4-4C6F-9DE0-F9759FFD553E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15476DB-8210-472E-AEFD-AF62FABD31E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985" y="330445"/>
            <a:ext cx="1084465" cy="94123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4F0C279-7E1A-44EB-A847-3C5C755CF5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22" b="41969"/>
          <a:stretch/>
        </p:blipFill>
        <p:spPr>
          <a:xfrm flipH="1">
            <a:off x="0" y="6082454"/>
            <a:ext cx="3516386" cy="77554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E8E74D78-EF18-469C-AC3B-AB853AD22EF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376" y="5956675"/>
            <a:ext cx="830741" cy="896218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1F39F378-A07F-4331-861F-F8923BAA8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65" b="50000"/>
          <a:stretch/>
        </p:blipFill>
        <p:spPr>
          <a:xfrm flipV="1">
            <a:off x="9406277" y="-1"/>
            <a:ext cx="2785723" cy="1473235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42F299F8-8408-4399-A598-BA72754B10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10406685" y="5982243"/>
            <a:ext cx="1673759" cy="87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65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1A630571-7C6A-4923-A81D-996AFF8C3C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CDD2B337-A40B-4CB5-AC16-B20D438745E5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43574BF0-BAD7-4C64-A18C-93A4F7D331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35" b="16636"/>
          <a:stretch/>
        </p:blipFill>
        <p:spPr>
          <a:xfrm rot="16200000" flipH="1">
            <a:off x="10180899" y="4846899"/>
            <a:ext cx="1565912" cy="2456289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F026356E-53BE-4CE4-AE71-28BDD9DF07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25" t="36382"/>
          <a:stretch/>
        </p:blipFill>
        <p:spPr>
          <a:xfrm flipV="1">
            <a:off x="0" y="5967743"/>
            <a:ext cx="3274813" cy="890257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7F128EBE-870E-4311-9599-D76661146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27" t="61236"/>
          <a:stretch/>
        </p:blipFill>
        <p:spPr>
          <a:xfrm>
            <a:off x="0" y="0"/>
            <a:ext cx="4555811" cy="1123474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B39768EB-AA17-450A-B4AF-A2A854EA0E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91" b="61236"/>
          <a:stretch/>
        </p:blipFill>
        <p:spPr>
          <a:xfrm flipH="1">
            <a:off x="10117212" y="176714"/>
            <a:ext cx="2074788" cy="1123474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5ADDDD96-E347-430B-ABEA-6993DCAD293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80" y="5497126"/>
            <a:ext cx="1084465" cy="941234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6A36736A-AEBD-495C-8411-AEE92D623C5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250" y="6138507"/>
            <a:ext cx="699786" cy="67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428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3">
            <a:hlinkClick r:id="rId2"/>
            <a:extLst>
              <a:ext uri="{FF2B5EF4-FFF2-40B4-BE49-F238E27FC236}">
                <a16:creationId xmlns:a16="http://schemas.microsoft.com/office/drawing/2014/main" id="{43D0B766-6493-47BD-9994-EE1955DD25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5"/>
            <a:extLst>
              <a:ext uri="{FF2B5EF4-FFF2-40B4-BE49-F238E27FC236}">
                <a16:creationId xmlns:a16="http://schemas.microsoft.com/office/drawing/2014/main" id="{3ABEF41D-BC69-4122-ADD2-B558D7A5B41B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87C8B8CA-1804-4827-B52E-9C4502D86A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44"/>
          <a:stretch/>
        </p:blipFill>
        <p:spPr>
          <a:xfrm>
            <a:off x="1978621" y="-1"/>
            <a:ext cx="1208286" cy="485987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3981E7E3-01D1-4DB5-B462-04E5C36CCA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624356" y="0"/>
            <a:ext cx="1538712" cy="785725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EE498393-BAF4-48A3-898D-0D5ECD2A3E2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8524" y="5340429"/>
            <a:ext cx="699786" cy="675232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B676E5FA-E594-49FD-A931-20CCF2555A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4" b="52080"/>
          <a:stretch/>
        </p:blipFill>
        <p:spPr>
          <a:xfrm flipV="1">
            <a:off x="10044834" y="0"/>
            <a:ext cx="2147166" cy="1041322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0CC8B304-F7AD-4BAC-930E-5DA8632931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95" b="32734"/>
          <a:stretch/>
        </p:blipFill>
        <p:spPr>
          <a:xfrm>
            <a:off x="0" y="5173323"/>
            <a:ext cx="1400444" cy="1684677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CD06FC16-ECF5-48E3-A396-CA78A9D872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273" b="16451"/>
          <a:stretch/>
        </p:blipFill>
        <p:spPr>
          <a:xfrm>
            <a:off x="11614500" y="5052723"/>
            <a:ext cx="577500" cy="180527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CB9F30D-96D3-48BB-866C-4D366830E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20"/>
          <a:stretch/>
        </p:blipFill>
        <p:spPr>
          <a:xfrm>
            <a:off x="10044834" y="6144569"/>
            <a:ext cx="1935667" cy="72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69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3">
            <a:hlinkClick r:id="rId2"/>
            <a:extLst>
              <a:ext uri="{FF2B5EF4-FFF2-40B4-BE49-F238E27FC236}">
                <a16:creationId xmlns:a16="http://schemas.microsoft.com/office/drawing/2014/main" id="{374C5502-3EA9-4707-9FC1-C8FC46DBF0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5"/>
            <a:extLst>
              <a:ext uri="{FF2B5EF4-FFF2-40B4-BE49-F238E27FC236}">
                <a16:creationId xmlns:a16="http://schemas.microsoft.com/office/drawing/2014/main" id="{61D16BDB-F647-41EE-B67A-67D7C0DFB16D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74B77CA-5276-411F-8B9D-2CB9F29148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0" y="2591609"/>
            <a:ext cx="769356" cy="157145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4500BD26-4FDB-4F10-B5FF-5F72D52F10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753"/>
          <a:stretch/>
        </p:blipFill>
        <p:spPr>
          <a:xfrm>
            <a:off x="1186441" y="-1"/>
            <a:ext cx="1303624" cy="407339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80892A4C-AD75-4E96-9EDC-29B14004189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9073" y="203668"/>
            <a:ext cx="1239973" cy="572925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C1BE4962-50DE-48F0-8782-82A79D6944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81" b="29580"/>
          <a:stretch/>
        </p:blipFill>
        <p:spPr>
          <a:xfrm>
            <a:off x="11039046" y="5825644"/>
            <a:ext cx="1152954" cy="1032356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D341E5DA-1A91-4242-8476-E05DBE12942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78" y="5995869"/>
            <a:ext cx="822556" cy="540186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13F38AEC-E10D-4FF8-9E86-4EB300AC32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11355121" y="330336"/>
            <a:ext cx="836880" cy="175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67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3">
            <a:hlinkClick r:id="rId2"/>
            <a:extLst>
              <a:ext uri="{FF2B5EF4-FFF2-40B4-BE49-F238E27FC236}">
                <a16:creationId xmlns:a16="http://schemas.microsoft.com/office/drawing/2014/main" id="{9F35F278-F56D-428E-98E7-4B3877508E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5"/>
            <a:extLst>
              <a:ext uri="{FF2B5EF4-FFF2-40B4-BE49-F238E27FC236}">
                <a16:creationId xmlns:a16="http://schemas.microsoft.com/office/drawing/2014/main" id="{73E48CDD-A377-4D6C-8A48-412D82EDA4A4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36BA9EF8-262B-4055-9310-C5668819BC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35"/>
          <a:stretch/>
        </p:blipFill>
        <p:spPr>
          <a:xfrm>
            <a:off x="0" y="125169"/>
            <a:ext cx="1408802" cy="2173022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653E2A8-3A47-44E7-B7B1-178A224910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09" y="5112691"/>
            <a:ext cx="1370010" cy="1370008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A5187F21-A429-49CF-A43F-3CE611CDD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07" b="50000"/>
          <a:stretch/>
        </p:blipFill>
        <p:spPr>
          <a:xfrm>
            <a:off x="0" y="6189780"/>
            <a:ext cx="3015638" cy="66822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B8D40452-B0C6-4B87-9C2F-82C36B6E1D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11170234" y="478674"/>
            <a:ext cx="1021766" cy="1466012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A8C5273F-0C8F-452D-9C9E-26F6BFD314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28029"/>
          <a:stretch/>
        </p:blipFill>
        <p:spPr>
          <a:xfrm>
            <a:off x="10458192" y="4737391"/>
            <a:ext cx="1733808" cy="212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053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그림 개체 틀 17">
            <a:extLst>
              <a:ext uri="{FF2B5EF4-FFF2-40B4-BE49-F238E27FC236}">
                <a16:creationId xmlns:a16="http://schemas.microsoft.com/office/drawing/2014/main" id="{EBC40C4F-00B3-40A9-BB24-B48904234116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188342" y="1314004"/>
            <a:ext cx="4229998" cy="4229992"/>
          </a:xfrm>
          <a:prstGeom prst="roundRect">
            <a:avLst>
              <a:gd name="adj" fmla="val 703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8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7" name="Graphic 3">
            <a:hlinkClick r:id="rId2"/>
            <a:extLst>
              <a:ext uri="{FF2B5EF4-FFF2-40B4-BE49-F238E27FC236}">
                <a16:creationId xmlns:a16="http://schemas.microsoft.com/office/drawing/2014/main" id="{B1FBD33D-6226-4CA8-A228-D7D380BF5D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:a16="http://schemas.microsoft.com/office/drawing/2014/main" id="{B33A2D7B-04E8-4919-B183-2EBA21036A19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864C2D-3BA0-4111-A7D1-20329B72E7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73"/>
          <a:stretch/>
        </p:blipFill>
        <p:spPr>
          <a:xfrm flipH="1">
            <a:off x="0" y="1898588"/>
            <a:ext cx="751566" cy="193566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77203AF-AA87-401F-8312-0434F92A9D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 flipH="1">
            <a:off x="1" y="0"/>
            <a:ext cx="1870190" cy="9576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BFF5E2-87B1-4D9D-BA07-FB036CEF40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1" r="-1"/>
          <a:stretch/>
        </p:blipFill>
        <p:spPr>
          <a:xfrm flipH="1">
            <a:off x="11571602" y="683026"/>
            <a:ext cx="620399" cy="124079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F164E-52A5-47A9-B7E4-34F5DB74D4C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0218" y="5956798"/>
            <a:ext cx="1239973" cy="5729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91F0A59-D4AF-4B1B-83FA-8F387C5CC1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0" b="38828"/>
          <a:stretch/>
        </p:blipFill>
        <p:spPr>
          <a:xfrm flipH="1">
            <a:off x="9563100" y="5237238"/>
            <a:ext cx="2628900" cy="162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44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49D0513-7123-49B6-83F2-A75E9BB9E2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3" t="4789"/>
          <a:stretch/>
        </p:blipFill>
        <p:spPr>
          <a:xfrm rot="16200000" flipH="1">
            <a:off x="602460" y="-602460"/>
            <a:ext cx="1316023" cy="252094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7B82DEB-F23B-479D-9EB4-E0B3369ECE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 flipH="1">
            <a:off x="9151255" y="0"/>
            <a:ext cx="1303624" cy="65181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146E8B9-6E4B-4E55-A26C-47B4CE5333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85"/>
          <a:stretch/>
        </p:blipFill>
        <p:spPr>
          <a:xfrm flipH="1">
            <a:off x="9958606" y="6072274"/>
            <a:ext cx="1208286" cy="78572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797ECF5-C226-436B-AC25-3C2A1DFE14C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53287" y="5286549"/>
            <a:ext cx="1538712" cy="157145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B310AFC-BA15-41CB-8AC1-4E1120119D8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6007" y="658011"/>
            <a:ext cx="1084465" cy="941234"/>
          </a:xfrm>
          <a:prstGeom prst="rect">
            <a:avLst/>
          </a:prstGeom>
        </p:spPr>
      </p:pic>
      <p:sp>
        <p:nvSpPr>
          <p:cNvPr id="10" name="그림 개체 틀 7">
            <a:extLst>
              <a:ext uri="{FF2B5EF4-FFF2-40B4-BE49-F238E27FC236}">
                <a16:creationId xmlns:a16="http://schemas.microsoft.com/office/drawing/2014/main" id="{D3265899-A90A-4BF1-81AD-06C890447D5F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34013" y="783771"/>
            <a:ext cx="3133272" cy="5290458"/>
          </a:xfrm>
          <a:prstGeom prst="roundRect">
            <a:avLst>
              <a:gd name="adj" fmla="val 748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>
              <a:defRPr lang="ko-KR" altLang="en-US"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1" name="그림 개체 틀 7">
            <a:extLst>
              <a:ext uri="{FF2B5EF4-FFF2-40B4-BE49-F238E27FC236}">
                <a16:creationId xmlns:a16="http://schemas.microsoft.com/office/drawing/2014/main" id="{BC17BC2C-9F27-4DE4-915C-968C283B3D14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8017442" y="783771"/>
            <a:ext cx="3133272" cy="5290458"/>
          </a:xfrm>
          <a:prstGeom prst="roundRect">
            <a:avLst>
              <a:gd name="adj" fmla="val 748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>
              <a:defRPr lang="ko-KR" altLang="en-US"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7"/>
            <a:extLst>
              <a:ext uri="{FF2B5EF4-FFF2-40B4-BE49-F238E27FC236}">
                <a16:creationId xmlns:a16="http://schemas.microsoft.com/office/drawing/2014/main" id="{5421B6D3-C8A1-4CE9-B2FA-E2317F71BF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10"/>
            <a:extLst>
              <a:ext uri="{FF2B5EF4-FFF2-40B4-BE49-F238E27FC236}">
                <a16:creationId xmlns:a16="http://schemas.microsoft.com/office/drawing/2014/main" id="{AEFA8E95-C283-4B24-9AEE-91FAABDF5C6B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171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C8283E9-9EEA-440F-A4A6-013FA6B2EF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73950" y="330445"/>
            <a:ext cx="1084465" cy="94123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84C6482-274A-44AB-B8A2-1395778E2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65" b="50000"/>
          <a:stretch/>
        </p:blipFill>
        <p:spPr>
          <a:xfrm flipH="1" flipV="1">
            <a:off x="4597400" y="-1"/>
            <a:ext cx="2785723" cy="147323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9AD1F48-1640-44A3-AFD7-F18641B23D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 flipH="1">
            <a:off x="4708956" y="5982243"/>
            <a:ext cx="1673759" cy="875757"/>
          </a:xfrm>
          <a:prstGeom prst="rect">
            <a:avLst/>
          </a:prstGeom>
        </p:spPr>
      </p:pic>
      <p:sp>
        <p:nvSpPr>
          <p:cNvPr id="11" name="그림 개체 틀 2">
            <a:extLst>
              <a:ext uri="{FF2B5EF4-FFF2-40B4-BE49-F238E27FC236}">
                <a16:creationId xmlns:a16="http://schemas.microsoft.com/office/drawing/2014/main" id="{D274D31A-EB5D-42D4-97BD-24B9D545E13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648200" cy="68580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1008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8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6" name="Graphic 3">
            <a:hlinkClick r:id="rId5"/>
            <a:extLst>
              <a:ext uri="{FF2B5EF4-FFF2-40B4-BE49-F238E27FC236}">
                <a16:creationId xmlns:a16="http://schemas.microsoft.com/office/drawing/2014/main" id="{31037D25-6029-4056-A2DF-B0118A3DC9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8"/>
            <a:extLst>
              <a:ext uri="{FF2B5EF4-FFF2-40B4-BE49-F238E27FC236}">
                <a16:creationId xmlns:a16="http://schemas.microsoft.com/office/drawing/2014/main" id="{B2E396FB-CA23-4F02-9B64-0EAEF31032F7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01CBC20-7018-4079-B30A-2775E930F4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5" b="27178"/>
          <a:stretch/>
        </p:blipFill>
        <p:spPr>
          <a:xfrm flipH="1">
            <a:off x="10726284" y="5111662"/>
            <a:ext cx="1465716" cy="174633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E016FD6-71BC-4144-A381-93C7425DEB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22" b="41969"/>
          <a:stretch/>
        </p:blipFill>
        <p:spPr>
          <a:xfrm>
            <a:off x="8675614" y="6082454"/>
            <a:ext cx="3516386" cy="77554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9EF7A56-6A7E-4B15-9508-2F78C977BC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19883" y="5956675"/>
            <a:ext cx="830741" cy="89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084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9359A091-1225-45E2-A2EC-25C83ADE46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44"/>
          <a:stretch/>
        </p:blipFill>
        <p:spPr>
          <a:xfrm flipH="1">
            <a:off x="9005093" y="3411182"/>
            <a:ext cx="1208286" cy="48598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F995AEA-2290-401F-8AF4-0CA917F2CF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 flipH="1">
            <a:off x="10028932" y="3411183"/>
            <a:ext cx="1538712" cy="78572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45B2554-36DB-47A6-BB7A-20830D37C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4" b="52080"/>
          <a:stretch/>
        </p:blipFill>
        <p:spPr>
          <a:xfrm flipH="1" flipV="1">
            <a:off x="0" y="3411183"/>
            <a:ext cx="2147166" cy="1041322"/>
          </a:xfrm>
          <a:prstGeom prst="rect">
            <a:avLst/>
          </a:prstGeom>
        </p:spPr>
      </p:pic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D121C57D-D455-40AF-9380-CDDCC246341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7" name="Graphic 3">
            <a:hlinkClick r:id="rId5"/>
            <a:extLst>
              <a:ext uri="{FF2B5EF4-FFF2-40B4-BE49-F238E27FC236}">
                <a16:creationId xmlns:a16="http://schemas.microsoft.com/office/drawing/2014/main" id="{0B90BAE4-A051-4527-8942-19E7526B00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13" name="TextBox 12">
            <a:hlinkClick r:id="rId8"/>
            <a:extLst>
              <a:ext uri="{FF2B5EF4-FFF2-40B4-BE49-F238E27FC236}">
                <a16:creationId xmlns:a16="http://schemas.microsoft.com/office/drawing/2014/main" id="{CC6DCA72-2A09-446D-8F96-D1ADA5D05BF0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C7DAA79-D941-44F2-88F2-6A8A12F8935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23690" y="5340429"/>
            <a:ext cx="699786" cy="67523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8516490-7F32-4004-8900-9F1A72633B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95" b="32734"/>
          <a:stretch/>
        </p:blipFill>
        <p:spPr>
          <a:xfrm flipH="1">
            <a:off x="10791556" y="5173323"/>
            <a:ext cx="1400444" cy="168467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85C8EDC-D8D3-47AD-BDAE-C54B56158B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273" b="16451"/>
          <a:stretch/>
        </p:blipFill>
        <p:spPr>
          <a:xfrm flipH="1">
            <a:off x="0" y="5052723"/>
            <a:ext cx="577500" cy="180527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8A5199E-5193-4BE7-82AD-8818059B35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20"/>
          <a:stretch/>
        </p:blipFill>
        <p:spPr>
          <a:xfrm flipH="1">
            <a:off x="211499" y="6144569"/>
            <a:ext cx="1935667" cy="72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328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>
            <a:extLst>
              <a:ext uri="{FF2B5EF4-FFF2-40B4-BE49-F238E27FC236}">
                <a16:creationId xmlns:a16="http://schemas.microsoft.com/office/drawing/2014/main" id="{6544A1B0-6233-4187-AC2D-318AA717EE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35" b="16636"/>
          <a:stretch/>
        </p:blipFill>
        <p:spPr>
          <a:xfrm rot="5400000">
            <a:off x="445189" y="4846899"/>
            <a:ext cx="1565912" cy="2456289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A5B76C6D-1196-4CBD-8199-117D937F17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25" t="36382"/>
          <a:stretch/>
        </p:blipFill>
        <p:spPr>
          <a:xfrm flipH="1" flipV="1">
            <a:off x="8917187" y="5967743"/>
            <a:ext cx="3274813" cy="89025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804F2262-1CE0-4984-8360-AE04156C1F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27" t="61236"/>
          <a:stretch/>
        </p:blipFill>
        <p:spPr>
          <a:xfrm flipH="1">
            <a:off x="7636189" y="0"/>
            <a:ext cx="4555811" cy="11234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DA0650D0-D7A1-4465-8516-36A7FC33B1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91" b="61236"/>
          <a:stretch/>
        </p:blipFill>
        <p:spPr>
          <a:xfrm>
            <a:off x="0" y="176714"/>
            <a:ext cx="2074788" cy="1123474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3AFAD57-9984-4978-90E3-4142C107E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819955" y="5497126"/>
            <a:ext cx="1084465" cy="941234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3D43D39A-9EB3-4D67-87BA-5714BE37FA8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44964" y="6138507"/>
            <a:ext cx="699786" cy="675232"/>
          </a:xfrm>
          <a:prstGeom prst="rect">
            <a:avLst/>
          </a:prstGeom>
        </p:spPr>
      </p:pic>
      <p:sp>
        <p:nvSpPr>
          <p:cNvPr id="11" name="그림 개체 틀 11">
            <a:extLst>
              <a:ext uri="{FF2B5EF4-FFF2-40B4-BE49-F238E27FC236}">
                <a16:creationId xmlns:a16="http://schemas.microsoft.com/office/drawing/2014/main" id="{504DF0BC-EF61-4916-94BF-F8B3162D30D2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7791450" y="759883"/>
            <a:ext cx="2540000" cy="5583986"/>
          </a:xfrm>
          <a:prstGeom prst="roundRect">
            <a:avLst>
              <a:gd name="adj" fmla="val 21152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9" name="Graphic 3">
            <a:hlinkClick r:id="rId7"/>
            <a:extLst>
              <a:ext uri="{FF2B5EF4-FFF2-40B4-BE49-F238E27FC236}">
                <a16:creationId xmlns:a16="http://schemas.microsoft.com/office/drawing/2014/main" id="{31FE8A36-2C75-4134-A032-AFBEFDB8F2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10" name="TextBox 9">
            <a:hlinkClick r:id="rId10"/>
            <a:extLst>
              <a:ext uri="{FF2B5EF4-FFF2-40B4-BE49-F238E27FC236}">
                <a16:creationId xmlns:a16="http://schemas.microsoft.com/office/drawing/2014/main" id="{3A42F9B6-92B9-4D23-88E3-EE4CEDE75C19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350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5">
            <a:extLst>
              <a:ext uri="{FF2B5EF4-FFF2-40B4-BE49-F238E27FC236}">
                <a16:creationId xmlns:a16="http://schemas.microsoft.com/office/drawing/2014/main" id="{8C07B766-3D8E-4D23-A6D9-7D09794832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74273" y="1109778"/>
            <a:ext cx="6988017" cy="4556788"/>
          </a:xfrm>
          <a:prstGeom prst="roundRect">
            <a:avLst>
              <a:gd name="adj" fmla="val 311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9" name="Graphic 3">
            <a:hlinkClick r:id="rId2"/>
            <a:extLst>
              <a:ext uri="{FF2B5EF4-FFF2-40B4-BE49-F238E27FC236}">
                <a16:creationId xmlns:a16="http://schemas.microsoft.com/office/drawing/2014/main" id="{F3B9D0C2-D0AF-4BA1-8D78-316CEB2FC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10" name="TextBox 9">
            <a:hlinkClick r:id="rId5"/>
            <a:extLst>
              <a:ext uri="{FF2B5EF4-FFF2-40B4-BE49-F238E27FC236}">
                <a16:creationId xmlns:a16="http://schemas.microsoft.com/office/drawing/2014/main" id="{F4E045AA-3368-4CAE-BBD7-76FC394530A8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E8CBACE-D695-4541-9641-F4C6539BDE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 flipH="1">
            <a:off x="11422645" y="2591609"/>
            <a:ext cx="769356" cy="157145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861FBF7-485B-4064-8F32-B6A60B429D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753"/>
          <a:stretch/>
        </p:blipFill>
        <p:spPr>
          <a:xfrm flipH="1">
            <a:off x="9701936" y="-1"/>
            <a:ext cx="1303624" cy="40733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051F3B9-3311-4D52-A9ED-2F89F7594FA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2955" y="203668"/>
            <a:ext cx="1239973" cy="57292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C3F2593-DE52-40EE-8209-4A5FC18342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81" b="29580"/>
          <a:stretch/>
        </p:blipFill>
        <p:spPr>
          <a:xfrm flipH="1">
            <a:off x="1" y="5825644"/>
            <a:ext cx="1152954" cy="103235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0ACC26A-3732-434E-AF99-2FC9477BF8C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84767" y="5995869"/>
            <a:ext cx="822556" cy="54018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EADF19C-7F1F-4C8F-BC2D-8C9B092430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 flipH="1">
            <a:off x="0" y="330336"/>
            <a:ext cx="836880" cy="175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41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69480A4E-7268-4FEC-A920-FBDB5F4880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35"/>
          <a:stretch/>
        </p:blipFill>
        <p:spPr>
          <a:xfrm flipH="1">
            <a:off x="10783198" y="125169"/>
            <a:ext cx="1408802" cy="217302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4EF47EF-DDDD-4281-ABE1-78BB222F68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84181" y="5112691"/>
            <a:ext cx="1370010" cy="137000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48C7BF2-1D95-423E-85C7-991330F295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07" b="50000"/>
          <a:stretch/>
        </p:blipFill>
        <p:spPr>
          <a:xfrm flipH="1">
            <a:off x="9176362" y="6189780"/>
            <a:ext cx="3015638" cy="66822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B47C36C-10EA-42CA-B7E5-A58BDBCF0C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 flipH="1">
            <a:off x="0" y="478674"/>
            <a:ext cx="1021766" cy="146601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7818D27-69B1-4ED3-B38A-C174E36CB1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28029"/>
          <a:stretch/>
        </p:blipFill>
        <p:spPr>
          <a:xfrm flipH="1">
            <a:off x="0" y="4737391"/>
            <a:ext cx="1733808" cy="2120609"/>
          </a:xfrm>
          <a:prstGeom prst="rect">
            <a:avLst/>
          </a:prstGeom>
        </p:spPr>
      </p:pic>
      <p:sp>
        <p:nvSpPr>
          <p:cNvPr id="11" name="그림 개체 틀 8">
            <a:extLst>
              <a:ext uri="{FF2B5EF4-FFF2-40B4-BE49-F238E27FC236}">
                <a16:creationId xmlns:a16="http://schemas.microsoft.com/office/drawing/2014/main" id="{CF6E3A25-33BD-4DC3-8B27-3F53A32AC7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839978" y="1856521"/>
            <a:ext cx="6740399" cy="3865781"/>
          </a:xfrm>
          <a:prstGeom prst="roundRect">
            <a:avLst>
              <a:gd name="adj" fmla="val 181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9" name="Graphic 3">
            <a:hlinkClick r:id="rId7"/>
            <a:extLst>
              <a:ext uri="{FF2B5EF4-FFF2-40B4-BE49-F238E27FC236}">
                <a16:creationId xmlns:a16="http://schemas.microsoft.com/office/drawing/2014/main" id="{A87FB6C7-823C-4098-A921-11DE2F28F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10" name="TextBox 9">
            <a:hlinkClick r:id="rId10"/>
            <a:extLst>
              <a:ext uri="{FF2B5EF4-FFF2-40B4-BE49-F238E27FC236}">
                <a16:creationId xmlns:a16="http://schemas.microsoft.com/office/drawing/2014/main" id="{E865CD1E-508B-4530-8ABF-3C1E255AEBE3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977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  <a:extLst>
              <a:ext uri="{FF2B5EF4-FFF2-40B4-BE49-F238E27FC236}">
                <a16:creationId xmlns:a16="http://schemas.microsoft.com/office/drawing/2014/main" id="{306C3952-09D5-4D0D-892B-4418AC8BF2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4DAD8B8-142B-40B2-B207-438FC539ED31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165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  <a:extLst>
              <a:ext uri="{FF2B5EF4-FFF2-40B4-BE49-F238E27FC236}">
                <a16:creationId xmlns:a16="http://schemas.microsoft.com/office/drawing/2014/main" id="{73A37BD8-7F0B-4AF6-932F-871217E1A9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816435" y="6866182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6CE82642-C408-4E34-84D4-308C0A82E253}"/>
              </a:ext>
            </a:extLst>
          </p:cNvPr>
          <p:cNvSpPr txBox="1"/>
          <p:nvPr userDrawn="1"/>
        </p:nvSpPr>
        <p:spPr>
          <a:xfrm>
            <a:off x="4136361" y="6826123"/>
            <a:ext cx="1835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687" r:id="rId19"/>
    <p:sldLayoutId id="2147483664" r:id="rId2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C1F0FB-79D5-4A0C-8623-74947D8385F5}"/>
              </a:ext>
            </a:extLst>
          </p:cNvPr>
          <p:cNvSpPr txBox="1"/>
          <p:nvPr/>
        </p:nvSpPr>
        <p:spPr>
          <a:xfrm>
            <a:off x="2288946" y="2351298"/>
            <a:ext cx="8007213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sz="2400" b="1" dirty="0">
                <a:latin typeface="Montserrat" panose="00000500000000000000" pitchFamily="2" charset="0"/>
                <a:cs typeface="Arial" panose="020B0604020202020204" pitchFamily="34" charset="0"/>
              </a:rPr>
              <a:t>D612 – Process Improvement Solution Proposal:  </a:t>
            </a:r>
            <a:r>
              <a:rPr lang="en-US" altLang="ko-KR" sz="2400" dirty="0">
                <a:latin typeface="Montserrat" panose="00000500000000000000" pitchFamily="2" charset="0"/>
                <a:cs typeface="Arial" panose="020B0604020202020204" pitchFamily="34" charset="0"/>
              </a:rPr>
              <a:t>Udon-</a:t>
            </a:r>
            <a:r>
              <a:rPr lang="en-US" altLang="ko-KR" sz="2400" dirty="0" err="1">
                <a:latin typeface="Montserrat" panose="00000500000000000000" pitchFamily="2" charset="0"/>
                <a:cs typeface="Arial" panose="020B0604020202020204" pitchFamily="34" charset="0"/>
              </a:rPr>
              <a:t>ya</a:t>
            </a:r>
            <a:r>
              <a:rPr lang="en-US" altLang="ko-KR" sz="2400" dirty="0">
                <a:latin typeface="Montserrat" panose="00000500000000000000" pitchFamily="2" charset="0"/>
                <a:cs typeface="Arial" panose="020B0604020202020204" pitchFamily="34" charset="0"/>
              </a:rPr>
              <a:t> Restaurant Order Process </a:t>
            </a:r>
            <a:endParaRPr lang="ko-KR" altLang="en-US" sz="2400" dirty="0"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7CC290-001C-4774-82DF-EBDB20C5D18A}"/>
              </a:ext>
            </a:extLst>
          </p:cNvPr>
          <p:cNvSpPr txBox="1"/>
          <p:nvPr/>
        </p:nvSpPr>
        <p:spPr>
          <a:xfrm>
            <a:off x="2092393" y="3779377"/>
            <a:ext cx="8007213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sz="2000" dirty="0"/>
              <a:t> by Tanya Gampert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6514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4684A47-0D49-4D97-8F1C-B1EAFF83B4CC}"/>
              </a:ext>
            </a:extLst>
          </p:cNvPr>
          <p:cNvSpPr txBox="1"/>
          <p:nvPr/>
        </p:nvSpPr>
        <p:spPr>
          <a:xfrm>
            <a:off x="5483610" y="3326527"/>
            <a:ext cx="3102123" cy="5232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altLang="ko-KR" sz="1400" dirty="0"/>
              <a:t>Service teams struggles when customer volume is high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81FF4D9-60FE-43A7-97C3-0F1C03C0B84D}"/>
              </a:ext>
            </a:extLst>
          </p:cNvPr>
          <p:cNvSpPr/>
          <p:nvPr/>
        </p:nvSpPr>
        <p:spPr>
          <a:xfrm>
            <a:off x="5483610" y="2950748"/>
            <a:ext cx="2794475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r>
              <a:rPr lang="en-US" altLang="ko-KR" sz="1600" b="1" dirty="0">
                <a:latin typeface="Montserrat" panose="00000500000000000000" pitchFamily="2" charset="0"/>
              </a:rPr>
              <a:t>High customer volume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A4E40A-97D4-4D53-B39F-7E6CB031B91A}"/>
              </a:ext>
            </a:extLst>
          </p:cNvPr>
          <p:cNvSpPr txBox="1"/>
          <p:nvPr/>
        </p:nvSpPr>
        <p:spPr>
          <a:xfrm>
            <a:off x="9489790" y="3326527"/>
            <a:ext cx="2121976" cy="276999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altLang="ko-KR" sz="1200" dirty="0"/>
              <a:t>No order prioritization</a:t>
            </a:r>
            <a:endParaRPr lang="ko-KR" altLang="en-US" sz="12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9E6409-9BBD-4384-98EE-3C282DC65DDA}"/>
              </a:ext>
            </a:extLst>
          </p:cNvPr>
          <p:cNvSpPr/>
          <p:nvPr/>
        </p:nvSpPr>
        <p:spPr>
          <a:xfrm>
            <a:off x="9489789" y="2915662"/>
            <a:ext cx="212197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r>
              <a:rPr lang="en-US" altLang="ko-KR" sz="1600" b="1" dirty="0">
                <a:latin typeface="Montserrat" panose="00000500000000000000" pitchFamily="2" charset="0"/>
              </a:rPr>
              <a:t>Takeout orders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F7E436-BA8D-416C-AA45-5CD980BD7144}"/>
              </a:ext>
            </a:extLst>
          </p:cNvPr>
          <p:cNvSpPr txBox="1"/>
          <p:nvPr/>
        </p:nvSpPr>
        <p:spPr>
          <a:xfrm>
            <a:off x="5538530" y="5065207"/>
            <a:ext cx="2973080" cy="5232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altLang="ko-KR" sz="1400" dirty="0"/>
              <a:t>Ingredients are not consistently available</a:t>
            </a:r>
            <a:endParaRPr lang="ko-KR" altLang="en-US" sz="14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3078FCC-4265-498D-82C1-B96AF6B4F076}"/>
              </a:ext>
            </a:extLst>
          </p:cNvPr>
          <p:cNvSpPr/>
          <p:nvPr/>
        </p:nvSpPr>
        <p:spPr>
          <a:xfrm>
            <a:off x="5538530" y="4585956"/>
            <a:ext cx="2911627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r>
              <a:rPr lang="en-US" altLang="ko-KR" sz="1600" b="1" dirty="0">
                <a:latin typeface="Montserrat" panose="00000500000000000000" pitchFamily="2" charset="0"/>
              </a:rPr>
              <a:t>Insufficient food prep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A6DD3E-D665-4845-A017-919C850E7DE7}"/>
              </a:ext>
            </a:extLst>
          </p:cNvPr>
          <p:cNvSpPr txBox="1"/>
          <p:nvPr/>
        </p:nvSpPr>
        <p:spPr>
          <a:xfrm>
            <a:off x="9415667" y="4984087"/>
            <a:ext cx="2121976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altLang="ko-KR" sz="1200" dirty="0"/>
              <a:t>No customer feedback collection</a:t>
            </a:r>
            <a:endParaRPr lang="ko-KR" altLang="en-US" sz="12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EB9CE43-F1C8-494F-AD96-5EE35BEF98F5}"/>
              </a:ext>
            </a:extLst>
          </p:cNvPr>
          <p:cNvSpPr/>
          <p:nvPr/>
        </p:nvSpPr>
        <p:spPr>
          <a:xfrm>
            <a:off x="9415665" y="4573222"/>
            <a:ext cx="2360439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r>
              <a:rPr lang="en-US" altLang="ko-KR" sz="1600" b="1" dirty="0">
                <a:latin typeface="Montserrat" panose="00000500000000000000" pitchFamily="2" charset="0"/>
              </a:rPr>
              <a:t>Customer feedback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B03C4E-5032-4332-8205-6E4E53E58DDB}"/>
              </a:ext>
            </a:extLst>
          </p:cNvPr>
          <p:cNvSpPr txBox="1"/>
          <p:nvPr/>
        </p:nvSpPr>
        <p:spPr>
          <a:xfrm>
            <a:off x="767453" y="2549606"/>
            <a:ext cx="4152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Montserrat" panose="00000500000000000000" pitchFamily="2" charset="0"/>
              </a:rPr>
              <a:t>Business Objective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A9C52C-4076-4F83-931F-97BC23028EF5}"/>
              </a:ext>
            </a:extLst>
          </p:cNvPr>
          <p:cNvSpPr txBox="1"/>
          <p:nvPr/>
        </p:nvSpPr>
        <p:spPr>
          <a:xfrm>
            <a:off x="767453" y="3180383"/>
            <a:ext cx="4152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1600" dirty="0"/>
              <a:t>Develop a standardized order process for franchise replication.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DEB678-7FC2-4279-A5AD-5E2CD9B94E62}"/>
              </a:ext>
            </a:extLst>
          </p:cNvPr>
          <p:cNvSpPr txBox="1"/>
          <p:nvPr/>
        </p:nvSpPr>
        <p:spPr>
          <a:xfrm>
            <a:off x="669075" y="943799"/>
            <a:ext cx="5107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j-lt"/>
                <a:cs typeface="Arial" panose="020B0604020202020204" pitchFamily="34" charset="0"/>
              </a:rPr>
              <a:t>Business Objective &amp; 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3910D-C268-5CC6-C3DB-66775BCA821A}"/>
              </a:ext>
            </a:extLst>
          </p:cNvPr>
          <p:cNvSpPr txBox="1"/>
          <p:nvPr/>
        </p:nvSpPr>
        <p:spPr>
          <a:xfrm>
            <a:off x="7339601" y="1938601"/>
            <a:ext cx="1684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Montserrat" panose="00000500000000000000" pitchFamily="2" charset="0"/>
              </a:rPr>
              <a:t>Challenges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AD96FB-9F3B-05FA-2372-956F030A6475}"/>
              </a:ext>
            </a:extLst>
          </p:cNvPr>
          <p:cNvCxnSpPr/>
          <p:nvPr/>
        </p:nvCxnSpPr>
        <p:spPr>
          <a:xfrm>
            <a:off x="5016381" y="1606609"/>
            <a:ext cx="0" cy="392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9">
            <a:extLst>
              <a:ext uri="{FF2B5EF4-FFF2-40B4-BE49-F238E27FC236}">
                <a16:creationId xmlns:a16="http://schemas.microsoft.com/office/drawing/2014/main" id="{7069AA6A-B754-B9A0-9B5C-6F4DC4458093}"/>
              </a:ext>
            </a:extLst>
          </p:cNvPr>
          <p:cNvSpPr/>
          <p:nvPr/>
        </p:nvSpPr>
        <p:spPr>
          <a:xfrm>
            <a:off x="6096000" y="2465980"/>
            <a:ext cx="598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2400" dirty="0">
                <a:latin typeface="+mj-lt"/>
              </a:rPr>
              <a:t>01.</a:t>
            </a:r>
            <a:endParaRPr lang="ko-KR" altLang="en-US" sz="2400" dirty="0">
              <a:latin typeface="+mj-lt"/>
            </a:endParaRPr>
          </a:p>
        </p:txBody>
      </p:sp>
      <p:sp>
        <p:nvSpPr>
          <p:cNvPr id="12" name="직사각형 19">
            <a:extLst>
              <a:ext uri="{FF2B5EF4-FFF2-40B4-BE49-F238E27FC236}">
                <a16:creationId xmlns:a16="http://schemas.microsoft.com/office/drawing/2014/main" id="{CAD70BC8-99D0-7A42-C319-571C75857BCD}"/>
              </a:ext>
            </a:extLst>
          </p:cNvPr>
          <p:cNvSpPr/>
          <p:nvPr/>
        </p:nvSpPr>
        <p:spPr>
          <a:xfrm>
            <a:off x="10073877" y="2436192"/>
            <a:ext cx="598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2400" dirty="0">
                <a:latin typeface="+mj-lt"/>
              </a:rPr>
              <a:t>02.</a:t>
            </a:r>
            <a:endParaRPr lang="ko-KR" altLang="en-US" sz="2400" dirty="0">
              <a:latin typeface="+mj-lt"/>
            </a:endParaRPr>
          </a:p>
        </p:txBody>
      </p:sp>
      <p:sp>
        <p:nvSpPr>
          <p:cNvPr id="13" name="직사각형 19">
            <a:extLst>
              <a:ext uri="{FF2B5EF4-FFF2-40B4-BE49-F238E27FC236}">
                <a16:creationId xmlns:a16="http://schemas.microsoft.com/office/drawing/2014/main" id="{25EF2C83-E723-5A77-E18C-94105F7023EE}"/>
              </a:ext>
            </a:extLst>
          </p:cNvPr>
          <p:cNvSpPr/>
          <p:nvPr/>
        </p:nvSpPr>
        <p:spPr>
          <a:xfrm>
            <a:off x="6146256" y="4087066"/>
            <a:ext cx="598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2400" dirty="0">
                <a:latin typeface="+mj-lt"/>
              </a:rPr>
              <a:t>03.</a:t>
            </a:r>
            <a:endParaRPr lang="ko-KR" altLang="en-US" sz="2400" dirty="0">
              <a:latin typeface="+mj-lt"/>
            </a:endParaRPr>
          </a:p>
        </p:txBody>
      </p:sp>
      <p:sp>
        <p:nvSpPr>
          <p:cNvPr id="14" name="직사각형 19">
            <a:extLst>
              <a:ext uri="{FF2B5EF4-FFF2-40B4-BE49-F238E27FC236}">
                <a16:creationId xmlns:a16="http://schemas.microsoft.com/office/drawing/2014/main" id="{30E7E0FA-A998-326C-6CE5-08FFBFE41E20}"/>
              </a:ext>
            </a:extLst>
          </p:cNvPr>
          <p:cNvSpPr/>
          <p:nvPr/>
        </p:nvSpPr>
        <p:spPr>
          <a:xfrm>
            <a:off x="10073877" y="4075401"/>
            <a:ext cx="598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2400" dirty="0">
                <a:latin typeface="+mj-lt"/>
              </a:rPr>
              <a:t>04.</a:t>
            </a:r>
            <a:endParaRPr lang="ko-KR" alt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3162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D483D32B-DCFE-45B3-A89D-94B991F0C248}"/>
              </a:ext>
            </a:extLst>
          </p:cNvPr>
          <p:cNvSpPr txBox="1"/>
          <p:nvPr/>
        </p:nvSpPr>
        <p:spPr>
          <a:xfrm>
            <a:off x="4469419" y="356356"/>
            <a:ext cx="3253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+mj-lt"/>
                <a:cs typeface="Arial" panose="020B0604020202020204" pitchFamily="34" charset="0"/>
              </a:rPr>
              <a:t>Analysis Results</a:t>
            </a:r>
            <a:endParaRPr lang="ko-KR" altLang="en-US" sz="32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EFCC67-5361-4B66-AB55-9B2824C14F26}"/>
              </a:ext>
            </a:extLst>
          </p:cNvPr>
          <p:cNvSpPr txBox="1"/>
          <p:nvPr/>
        </p:nvSpPr>
        <p:spPr>
          <a:xfrm>
            <a:off x="1034024" y="2171544"/>
            <a:ext cx="29483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9,812 cases analyzed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1,094 process variants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Throughput time delays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35.11% conformance rate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9CEF352-27D6-4335-837A-69B6265BB16E}"/>
              </a:ext>
            </a:extLst>
          </p:cNvPr>
          <p:cNvSpPr/>
          <p:nvPr/>
        </p:nvSpPr>
        <p:spPr>
          <a:xfrm>
            <a:off x="952244" y="1571837"/>
            <a:ext cx="27578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latin typeface="+mj-lt"/>
              </a:rPr>
              <a:t>Process mining results:</a:t>
            </a:r>
            <a:endParaRPr lang="ko-KR" altLang="en-US" sz="2000" dirty="0"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6C021E-669A-47F6-84E2-A84128FF1F51}"/>
              </a:ext>
            </a:extLst>
          </p:cNvPr>
          <p:cNvSpPr txBox="1"/>
          <p:nvPr/>
        </p:nvSpPr>
        <p:spPr>
          <a:xfrm>
            <a:off x="6726847" y="2240292"/>
            <a:ext cx="43441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Disconnected kitchen &amp; service workflows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Communication gaps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No inventory management system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Inconsistently prepped ingredients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Lack of systematic data collection and monitoring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No physical team coordination point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E14BDD8-9B9E-4FDD-8923-A6C2B78F0116}"/>
              </a:ext>
            </a:extLst>
          </p:cNvPr>
          <p:cNvSpPr/>
          <p:nvPr/>
        </p:nvSpPr>
        <p:spPr>
          <a:xfrm>
            <a:off x="6657173" y="1571837"/>
            <a:ext cx="32644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latin typeface="+mj-lt"/>
              </a:rPr>
              <a:t>Root causes/bottlenecks:</a:t>
            </a:r>
            <a:endParaRPr lang="ko-KR" altLang="en-US" sz="2000" dirty="0"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CF6B7C-1110-40B0-AA35-24CF4E13F6C0}"/>
              </a:ext>
            </a:extLst>
          </p:cNvPr>
          <p:cNvSpPr txBox="1"/>
          <p:nvPr/>
        </p:nvSpPr>
        <p:spPr>
          <a:xfrm>
            <a:off x="952244" y="4800056"/>
            <a:ext cx="48198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Waiting:</a:t>
            </a:r>
            <a:r>
              <a:rPr lang="en-US" altLang="ko-KR" sz="1600" dirty="0"/>
              <a:t> Coordination delays across all stakeholders, customer waits</a:t>
            </a:r>
          </a:p>
          <a:p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Motion: </a:t>
            </a:r>
            <a:r>
              <a:rPr lang="en-US" altLang="ko-KR" sz="1600" dirty="0"/>
              <a:t>Searching for staff/ingredients</a:t>
            </a:r>
          </a:p>
          <a:p>
            <a:endParaRPr lang="en-US" altLang="ko-KR" sz="16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E67BE47-236C-4CD5-8C78-6DB46B7B12C4}"/>
              </a:ext>
            </a:extLst>
          </p:cNvPr>
          <p:cNvSpPr/>
          <p:nvPr/>
        </p:nvSpPr>
        <p:spPr>
          <a:xfrm>
            <a:off x="836439" y="4379458"/>
            <a:ext cx="17352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latin typeface="+mj-lt"/>
              </a:rPr>
              <a:t>Lean wastes:</a:t>
            </a:r>
            <a:endParaRPr lang="ko-KR" altLang="en-US" sz="20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9A01B-AA81-1FB3-F182-19A75ECA2E76}"/>
              </a:ext>
            </a:extLst>
          </p:cNvPr>
          <p:cNvSpPr txBox="1"/>
          <p:nvPr/>
        </p:nvSpPr>
        <p:spPr>
          <a:xfrm>
            <a:off x="836439" y="3155971"/>
            <a:ext cx="4740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endParaRPr lang="en-US" altLang="ko-KR" sz="1600" b="1" dirty="0">
              <a:latin typeface="Montserrat" panose="00000500000000000000" pitchFamily="2" charset="0"/>
            </a:endParaRPr>
          </a:p>
          <a:p>
            <a:r>
              <a:rPr lang="en-US" altLang="ko-KR" sz="1600" b="1" dirty="0"/>
              <a:t>Conclusion</a:t>
            </a:r>
            <a:r>
              <a:rPr lang="en-US" altLang="ko-KR" sz="1600" dirty="0"/>
              <a:t>:  Severe process inconsistencies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65E075-847D-7B7C-F34B-0E5ABFDA9726}"/>
              </a:ext>
            </a:extLst>
          </p:cNvPr>
          <p:cNvSpPr txBox="1"/>
          <p:nvPr/>
        </p:nvSpPr>
        <p:spPr>
          <a:xfrm>
            <a:off x="5847084" y="4800056"/>
            <a:ext cx="48846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Inventory: </a:t>
            </a:r>
            <a:r>
              <a:rPr lang="en-US" altLang="ko-KR" sz="1600" dirty="0"/>
              <a:t>Insufficient prepped ingredients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Underutilized talent: </a:t>
            </a:r>
            <a:r>
              <a:rPr lang="en-US" altLang="ko-KR" sz="1600" dirty="0"/>
              <a:t>No customer feedback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02834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B8720CDB-86A1-42BF-BED7-781AF8691800}"/>
              </a:ext>
            </a:extLst>
          </p:cNvPr>
          <p:cNvSpPr txBox="1"/>
          <p:nvPr/>
        </p:nvSpPr>
        <p:spPr>
          <a:xfrm>
            <a:off x="3053381" y="6125749"/>
            <a:ext cx="690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sz="1600" b="1" dirty="0"/>
              <a:t>Four improvements working together as one integrated system</a:t>
            </a:r>
            <a:endParaRPr lang="en-US" altLang="ko-KR" sz="16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83D32B-DCFE-45B3-A89D-94B991F0C248}"/>
              </a:ext>
            </a:extLst>
          </p:cNvPr>
          <p:cNvSpPr txBox="1"/>
          <p:nvPr/>
        </p:nvSpPr>
        <p:spPr>
          <a:xfrm>
            <a:off x="3724038" y="617532"/>
            <a:ext cx="4470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Lean Process Solutions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5EC1E1-67DC-453D-AC3E-9C04A4CD5B94}"/>
              </a:ext>
            </a:extLst>
          </p:cNvPr>
          <p:cNvSpPr txBox="1"/>
          <p:nvPr/>
        </p:nvSpPr>
        <p:spPr>
          <a:xfrm>
            <a:off x="5951588" y="2259449"/>
            <a:ext cx="215843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Replaces once daily batch of ingredients and enables demand-based inventory management</a:t>
            </a:r>
            <a:endParaRPr lang="ko-KR" altLang="en-US" sz="14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00B35FC-F75E-4FC6-A5E2-E4F2EF24D05C}"/>
              </a:ext>
            </a:extLst>
          </p:cNvPr>
          <p:cNvSpPr/>
          <p:nvPr/>
        </p:nvSpPr>
        <p:spPr>
          <a:xfrm>
            <a:off x="5959135" y="1688643"/>
            <a:ext cx="18089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latin typeface="+mj-lt"/>
              </a:rPr>
              <a:t>2. Pull System</a:t>
            </a:r>
            <a:endParaRPr lang="ko-KR" altLang="en-US" sz="2000" dirty="0"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6C021E-669A-47F6-84E2-A84128FF1F51}"/>
              </a:ext>
            </a:extLst>
          </p:cNvPr>
          <p:cNvSpPr txBox="1"/>
          <p:nvPr/>
        </p:nvSpPr>
        <p:spPr>
          <a:xfrm>
            <a:off x="152078" y="4496252"/>
            <a:ext cx="2633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Systematic takeout routing through POS system</a:t>
            </a:r>
            <a:endParaRPr lang="ko-KR" altLang="en-US" sz="14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E14BDD8-9B9E-4FDD-8923-A6C2B78F0116}"/>
              </a:ext>
            </a:extLst>
          </p:cNvPr>
          <p:cNvSpPr/>
          <p:nvPr/>
        </p:nvSpPr>
        <p:spPr>
          <a:xfrm>
            <a:off x="134743" y="3978933"/>
            <a:ext cx="39330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j-lt"/>
              </a:rPr>
              <a:t>3. Takeout Order Prioritization</a:t>
            </a:r>
            <a:endParaRPr lang="ko-KR" altLang="en-US" sz="2000" dirty="0"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CF6B7C-1110-40B0-AA35-24CF4E13F6C0}"/>
              </a:ext>
            </a:extLst>
          </p:cNvPr>
          <p:cNvSpPr txBox="1"/>
          <p:nvPr/>
        </p:nvSpPr>
        <p:spPr>
          <a:xfrm>
            <a:off x="5951588" y="4422684"/>
            <a:ext cx="23135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Customer feedback       collection enables          ongoing optimization</a:t>
            </a:r>
            <a:endParaRPr lang="ko-KR" altLang="en-US" sz="14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E67BE47-236C-4CD5-8C78-6DB46B7B12C4}"/>
              </a:ext>
            </a:extLst>
          </p:cNvPr>
          <p:cNvSpPr/>
          <p:nvPr/>
        </p:nvSpPr>
        <p:spPr>
          <a:xfrm>
            <a:off x="5959135" y="4027810"/>
            <a:ext cx="33014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j-lt"/>
              </a:rPr>
              <a:t>4. Continuous Improvement</a:t>
            </a:r>
            <a:endParaRPr lang="ko-KR" altLang="en-US" sz="2000" dirty="0"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EFCC67-5361-4B66-AB55-9B2824C14F26}"/>
              </a:ext>
            </a:extLst>
          </p:cNvPr>
          <p:cNvSpPr txBox="1"/>
          <p:nvPr/>
        </p:nvSpPr>
        <p:spPr>
          <a:xfrm>
            <a:off x="277696" y="2474892"/>
            <a:ext cx="2382578" cy="738664"/>
          </a:xfrm>
          <a:prstGeom prst="rect">
            <a:avLst/>
          </a:prstGeom>
          <a:solidFill>
            <a:srgbClr val="F3F1DE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Connects kitchen </a:t>
            </a:r>
          </a:p>
          <a:p>
            <a:r>
              <a:rPr lang="en-US" sz="1400" dirty="0"/>
              <a:t>and service workflows     through kanban system.</a:t>
            </a:r>
            <a:endParaRPr lang="ko-KR" altLang="en-US" sz="14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9CEF352-27D6-4335-837A-69B6265BB16E}"/>
              </a:ext>
            </a:extLst>
          </p:cNvPr>
          <p:cNvSpPr/>
          <p:nvPr/>
        </p:nvSpPr>
        <p:spPr>
          <a:xfrm>
            <a:off x="166594" y="1677415"/>
            <a:ext cx="26382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latin typeface="+mj-lt"/>
              </a:rPr>
              <a:t>1. Process Integration</a:t>
            </a:r>
            <a:endParaRPr lang="ko-KR" altLang="en-US" sz="2000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B2A529-D2A8-3BFC-5B18-0690D4F70AB8}"/>
              </a:ext>
            </a:extLst>
          </p:cNvPr>
          <p:cNvSpPr txBox="1"/>
          <p:nvPr/>
        </p:nvSpPr>
        <p:spPr>
          <a:xfrm>
            <a:off x="2804801" y="2215119"/>
            <a:ext cx="2784953" cy="16004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Eliminates: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High customer volume delays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Disconnected 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Communication gaps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No coordination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Waiting &amp; motion wastes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3F9940-012D-D23B-381B-FB76C5D7BC12}"/>
              </a:ext>
            </a:extLst>
          </p:cNvPr>
          <p:cNvSpPr txBox="1"/>
          <p:nvPr/>
        </p:nvSpPr>
        <p:spPr>
          <a:xfrm>
            <a:off x="8245118" y="2151726"/>
            <a:ext cx="3687984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Eliminates </a:t>
            </a:r>
            <a:r>
              <a:rPr lang="en-US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Insufficient food prep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No inventory management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Inconsistently prepped ingredients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Inventory waste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2AF262-6740-3072-1F34-0A88BDC757D2}"/>
              </a:ext>
            </a:extLst>
          </p:cNvPr>
          <p:cNvSpPr txBox="1"/>
          <p:nvPr/>
        </p:nvSpPr>
        <p:spPr>
          <a:xfrm>
            <a:off x="2804800" y="4441921"/>
            <a:ext cx="2784953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Eliminates </a:t>
            </a:r>
            <a:r>
              <a:rPr lang="en-US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Takeout order delays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Customer waiting waste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B0A72F-7EB4-5435-1EB7-B8F392F82FF6}"/>
              </a:ext>
            </a:extLst>
          </p:cNvPr>
          <p:cNvSpPr txBox="1"/>
          <p:nvPr/>
        </p:nvSpPr>
        <p:spPr>
          <a:xfrm>
            <a:off x="8591501" y="4427920"/>
            <a:ext cx="3005142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Eliminates </a:t>
            </a:r>
            <a:r>
              <a:rPr lang="en-US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Lack of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Lack of systematic feedback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Underutilized talent waste</a:t>
            </a:r>
          </a:p>
        </p:txBody>
      </p:sp>
    </p:spTree>
    <p:extLst>
      <p:ext uri="{BB962C8B-B14F-4D97-AF65-F5344CB8AC3E}">
        <p14:creationId xmlns:p14="http://schemas.microsoft.com/office/powerpoint/2010/main" val="3102001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F77C16-823E-FA43-7DD8-CDAD763BE482}"/>
              </a:ext>
            </a:extLst>
          </p:cNvPr>
          <p:cNvSpPr txBox="1"/>
          <p:nvPr/>
        </p:nvSpPr>
        <p:spPr>
          <a:xfrm>
            <a:off x="5571859" y="174513"/>
            <a:ext cx="4886216" cy="461665"/>
          </a:xfrm>
          <a:prstGeom prst="rect">
            <a:avLst/>
          </a:prstGeom>
          <a:solidFill>
            <a:srgbClr val="F3ECD9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Improved Udon-ya Order Process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90B226-5C08-E5A8-F620-1F0A555A3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87" y="21662"/>
            <a:ext cx="11104840" cy="683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56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4337FF-459C-23A2-7A39-EFF3CB27E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738506"/>
              </p:ext>
            </p:extLst>
          </p:nvPr>
        </p:nvGraphicFramePr>
        <p:xfrm>
          <a:off x="1555335" y="1975898"/>
          <a:ext cx="9938757" cy="2433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443955">
                  <a:extLst>
                    <a:ext uri="{9D8B030D-6E8A-4147-A177-3AD203B41FA5}">
                      <a16:colId xmlns:a16="http://schemas.microsoft.com/office/drawing/2014/main" val="2013082295"/>
                    </a:ext>
                  </a:extLst>
                </a:gridCol>
                <a:gridCol w="4441168">
                  <a:extLst>
                    <a:ext uri="{9D8B030D-6E8A-4147-A177-3AD203B41FA5}">
                      <a16:colId xmlns:a16="http://schemas.microsoft.com/office/drawing/2014/main" val="3542807885"/>
                    </a:ext>
                  </a:extLst>
                </a:gridCol>
                <a:gridCol w="2053634">
                  <a:extLst>
                    <a:ext uri="{9D8B030D-6E8A-4147-A177-3AD203B41FA5}">
                      <a16:colId xmlns:a16="http://schemas.microsoft.com/office/drawing/2014/main" val="16922823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Key Performance 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Goal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895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Process Conformance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Measures standardization of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&gt; 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855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Food Preparation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Measures pull system effectiveness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&lt; 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19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Ingredients Replenishment</a:t>
                      </a:r>
                    </a:p>
                    <a:p>
                      <a:r>
                        <a:rPr lang="en-US" sz="1600" b="1" dirty="0"/>
                        <a:t>Frequency*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Measures demand-based food prep cycle</a:t>
                      </a:r>
                    </a:p>
                    <a:p>
                      <a:r>
                        <a:rPr lang="en-US" sz="1600" dirty="0"/>
                        <a:t>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8-12 cycles per 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230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Avg Order-to-Table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Measures continuous flow effectiveness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&lt; 7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711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Customer Satisfaction (CSAT)*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Measures customer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&gt; 4.0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0015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D9FF40A-2AC9-1525-D528-7F645C33630C}"/>
              </a:ext>
            </a:extLst>
          </p:cNvPr>
          <p:cNvSpPr txBox="1"/>
          <p:nvPr/>
        </p:nvSpPr>
        <p:spPr>
          <a:xfrm>
            <a:off x="1640793" y="4537816"/>
            <a:ext cx="1495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*New metric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7B20EB-2E09-68C7-DADD-21D9C9C75038}"/>
              </a:ext>
            </a:extLst>
          </p:cNvPr>
          <p:cNvSpPr txBox="1"/>
          <p:nvPr/>
        </p:nvSpPr>
        <p:spPr>
          <a:xfrm>
            <a:off x="2375731" y="841085"/>
            <a:ext cx="7545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Measuring Success – Key Performance Indicators</a:t>
            </a:r>
          </a:p>
        </p:txBody>
      </p:sp>
    </p:spTree>
    <p:extLst>
      <p:ext uri="{BB962C8B-B14F-4D97-AF65-F5344CB8AC3E}">
        <p14:creationId xmlns:p14="http://schemas.microsoft.com/office/powerpoint/2010/main" val="1914284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5A2EFDF-007A-4B61-B6C1-47F13A265E39}"/>
              </a:ext>
            </a:extLst>
          </p:cNvPr>
          <p:cNvSpPr txBox="1"/>
          <p:nvPr/>
        </p:nvSpPr>
        <p:spPr>
          <a:xfrm>
            <a:off x="172553" y="4118274"/>
            <a:ext cx="2555168" cy="1384995"/>
          </a:xfrm>
          <a:prstGeom prst="rect">
            <a:avLst/>
          </a:prstGeom>
          <a:solidFill>
            <a:srgbClr val="F3F1DE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1400" b="1" dirty="0"/>
              <a:t>Kickoff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Install kanban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Define low ingredients threshold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7AC927-55FB-4D50-9D7C-A1D0B34A32C6}"/>
              </a:ext>
            </a:extLst>
          </p:cNvPr>
          <p:cNvSpPr txBox="1"/>
          <p:nvPr/>
        </p:nvSpPr>
        <p:spPr>
          <a:xfrm>
            <a:off x="1392855" y="2409626"/>
            <a:ext cx="3137051" cy="30777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1400" dirty="0"/>
              <a:t>Kitchen and service staff training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950A46-0AEC-47B4-8CED-13C16F85CC29}"/>
              </a:ext>
            </a:extLst>
          </p:cNvPr>
          <p:cNvSpPr txBox="1"/>
          <p:nvPr/>
        </p:nvSpPr>
        <p:spPr>
          <a:xfrm>
            <a:off x="3631324" y="5409846"/>
            <a:ext cx="2298820" cy="307777"/>
          </a:xfrm>
          <a:prstGeom prst="rect">
            <a:avLst/>
          </a:prstGeom>
          <a:noFill/>
          <a:ln>
            <a:solidFill>
              <a:srgbClr val="D57C76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1400" dirty="0"/>
              <a:t>Daily huddle meetings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E9B83B-5B1C-88BB-B501-B73230129CC6}"/>
              </a:ext>
            </a:extLst>
          </p:cNvPr>
          <p:cNvSpPr txBox="1"/>
          <p:nvPr/>
        </p:nvSpPr>
        <p:spPr>
          <a:xfrm>
            <a:off x="3287430" y="311912"/>
            <a:ext cx="4935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Implementation 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D01C0A-656B-EECB-3832-5A25F300296D}"/>
              </a:ext>
            </a:extLst>
          </p:cNvPr>
          <p:cNvSpPr txBox="1"/>
          <p:nvPr/>
        </p:nvSpPr>
        <p:spPr>
          <a:xfrm>
            <a:off x="393107" y="3429000"/>
            <a:ext cx="183472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Week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2201A-3044-D5D0-86BF-0DD0551BB2E6}"/>
              </a:ext>
            </a:extLst>
          </p:cNvPr>
          <p:cNvSpPr txBox="1"/>
          <p:nvPr/>
        </p:nvSpPr>
        <p:spPr>
          <a:xfrm>
            <a:off x="2227826" y="3429000"/>
            <a:ext cx="177656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Week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E5BCE-15C6-6F3D-E157-44DC600ADE93}"/>
              </a:ext>
            </a:extLst>
          </p:cNvPr>
          <p:cNvSpPr txBox="1"/>
          <p:nvPr/>
        </p:nvSpPr>
        <p:spPr>
          <a:xfrm>
            <a:off x="4004394" y="3429000"/>
            <a:ext cx="155268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Week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D1CF27-06DF-2655-6447-7D762061CAA6}"/>
              </a:ext>
            </a:extLst>
          </p:cNvPr>
          <p:cNvSpPr txBox="1"/>
          <p:nvPr/>
        </p:nvSpPr>
        <p:spPr>
          <a:xfrm>
            <a:off x="5557074" y="3429000"/>
            <a:ext cx="2115897" cy="36933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4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4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Week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A92D2A-1E07-9DAC-D021-216E73A6AA37}"/>
              </a:ext>
            </a:extLst>
          </p:cNvPr>
          <p:cNvSpPr txBox="1"/>
          <p:nvPr/>
        </p:nvSpPr>
        <p:spPr>
          <a:xfrm>
            <a:off x="7672973" y="3429000"/>
            <a:ext cx="1907276" cy="36933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tint val="66000"/>
                  <a:satMod val="160000"/>
                </a:schemeClr>
              </a:gs>
              <a:gs pos="50000">
                <a:schemeClr val="accent4">
                  <a:lumMod val="75000"/>
                  <a:tint val="44500"/>
                  <a:satMod val="160000"/>
                </a:schemeClr>
              </a:gs>
              <a:gs pos="100000">
                <a:schemeClr val="accent4">
                  <a:lumMod val="75000"/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Week 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B1A53D-01AD-1981-33FD-241C0970B573}"/>
              </a:ext>
            </a:extLst>
          </p:cNvPr>
          <p:cNvSpPr txBox="1"/>
          <p:nvPr/>
        </p:nvSpPr>
        <p:spPr>
          <a:xfrm>
            <a:off x="9580249" y="3429000"/>
            <a:ext cx="2406970" cy="36933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6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6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Week 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D47701-15F3-549C-C4E5-D0CD5719C778}"/>
              </a:ext>
            </a:extLst>
          </p:cNvPr>
          <p:cNvSpPr txBox="1"/>
          <p:nvPr/>
        </p:nvSpPr>
        <p:spPr>
          <a:xfrm>
            <a:off x="393107" y="1479653"/>
            <a:ext cx="1177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Phase 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F2B753-9F3D-8FE6-FB49-D49A23780030}"/>
              </a:ext>
            </a:extLst>
          </p:cNvPr>
          <p:cNvSpPr txBox="1"/>
          <p:nvPr/>
        </p:nvSpPr>
        <p:spPr>
          <a:xfrm>
            <a:off x="5557074" y="2074731"/>
            <a:ext cx="1691333" cy="307777"/>
          </a:xfrm>
          <a:prstGeom prst="rect">
            <a:avLst/>
          </a:prstGeom>
          <a:solidFill>
            <a:srgbClr val="FFD966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1400" b="1" dirty="0"/>
              <a:t>Go live: </a:t>
            </a:r>
            <a:r>
              <a:rPr lang="en-US" altLang="ko-KR" sz="1400" dirty="0"/>
              <a:t>Phase 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F87DEE-C3CD-DC74-EDC4-F45E5099D396}"/>
              </a:ext>
            </a:extLst>
          </p:cNvPr>
          <p:cNvSpPr txBox="1"/>
          <p:nvPr/>
        </p:nvSpPr>
        <p:spPr>
          <a:xfrm>
            <a:off x="10460186" y="2074731"/>
            <a:ext cx="1527035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1400" b="1" dirty="0"/>
              <a:t>Go live: </a:t>
            </a:r>
            <a:r>
              <a:rPr lang="en-US" altLang="ko-KR" sz="1400" dirty="0"/>
              <a:t>Phase 2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9D34EEC-3C61-F339-9517-92B63851618A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1310467" y="3798332"/>
            <a:ext cx="0" cy="3199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C1D6D0F-33CC-E4B5-9A57-03B5C899DD11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2961381" y="2717403"/>
            <a:ext cx="0" cy="7115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636CEB5-1354-6A35-BB71-2D95C2C4A6A8}"/>
              </a:ext>
            </a:extLst>
          </p:cNvPr>
          <p:cNvCxnSpPr>
            <a:cxnSpLocks/>
            <a:stCxn id="115" idx="0"/>
            <a:endCxn id="5" idx="2"/>
          </p:cNvCxnSpPr>
          <p:nvPr/>
        </p:nvCxnSpPr>
        <p:spPr>
          <a:xfrm flipV="1">
            <a:off x="4780734" y="3798332"/>
            <a:ext cx="1" cy="5872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D80E366-3DC6-50B9-C4C2-0C80DC5984BC}"/>
              </a:ext>
            </a:extLst>
          </p:cNvPr>
          <p:cNvCxnSpPr>
            <a:cxnSpLocks/>
          </p:cNvCxnSpPr>
          <p:nvPr/>
        </p:nvCxnSpPr>
        <p:spPr>
          <a:xfrm>
            <a:off x="7997781" y="3779282"/>
            <a:ext cx="0" cy="3389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BE621D1-980E-1BF7-3CBE-C89461EC8E59}"/>
              </a:ext>
            </a:extLst>
          </p:cNvPr>
          <p:cNvCxnSpPr>
            <a:cxnSpLocks/>
          </p:cNvCxnSpPr>
          <p:nvPr/>
        </p:nvCxnSpPr>
        <p:spPr>
          <a:xfrm flipV="1">
            <a:off x="7672971" y="1410056"/>
            <a:ext cx="0" cy="4738453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FE1DD3A6-F45A-72FE-5930-5C55B4A57628}"/>
              </a:ext>
            </a:extLst>
          </p:cNvPr>
          <p:cNvSpPr txBox="1"/>
          <p:nvPr/>
        </p:nvSpPr>
        <p:spPr>
          <a:xfrm>
            <a:off x="7724492" y="1479652"/>
            <a:ext cx="1177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Phase 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7F40B6C-51A9-F3F8-69B9-9BAF1D290DA6}"/>
              </a:ext>
            </a:extLst>
          </p:cNvPr>
          <p:cNvSpPr txBox="1"/>
          <p:nvPr/>
        </p:nvSpPr>
        <p:spPr>
          <a:xfrm>
            <a:off x="4034681" y="4385540"/>
            <a:ext cx="1492106" cy="523220"/>
          </a:xfrm>
          <a:prstGeom prst="rect">
            <a:avLst/>
          </a:prstGeom>
          <a:noFill/>
          <a:ln>
            <a:solidFill>
              <a:srgbClr val="D57C76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1400" dirty="0"/>
              <a:t>Test process improvements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BADEA01-0063-EB1A-F11B-83237E4B26AE}"/>
              </a:ext>
            </a:extLst>
          </p:cNvPr>
          <p:cNvCxnSpPr>
            <a:cxnSpLocks/>
            <a:stCxn id="24" idx="0"/>
            <a:endCxn id="115" idx="2"/>
          </p:cNvCxnSpPr>
          <p:nvPr/>
        </p:nvCxnSpPr>
        <p:spPr>
          <a:xfrm flipV="1">
            <a:off x="4780734" y="4908760"/>
            <a:ext cx="0" cy="501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2A0523FC-086D-22B7-B188-C42E8F85DB57}"/>
              </a:ext>
            </a:extLst>
          </p:cNvPr>
          <p:cNvSpPr txBox="1"/>
          <p:nvPr/>
        </p:nvSpPr>
        <p:spPr>
          <a:xfrm>
            <a:off x="8144273" y="2431949"/>
            <a:ext cx="2052954" cy="30777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1400" dirty="0"/>
              <a:t>Service staff training 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5895F80-57FD-A94F-895F-BD362B84A923}"/>
              </a:ext>
            </a:extLst>
          </p:cNvPr>
          <p:cNvCxnSpPr>
            <a:cxnSpLocks/>
          </p:cNvCxnSpPr>
          <p:nvPr/>
        </p:nvCxnSpPr>
        <p:spPr>
          <a:xfrm flipV="1">
            <a:off x="10822051" y="2382508"/>
            <a:ext cx="0" cy="10464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687F1B7-07E5-DA34-5ABE-0F2DBF8ECCA0}"/>
              </a:ext>
            </a:extLst>
          </p:cNvPr>
          <p:cNvCxnSpPr>
            <a:cxnSpLocks/>
            <a:stCxn id="138" idx="2"/>
          </p:cNvCxnSpPr>
          <p:nvPr/>
        </p:nvCxnSpPr>
        <p:spPr>
          <a:xfrm>
            <a:off x="9170750" y="2739726"/>
            <a:ext cx="0" cy="6892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50D06119-64BF-3C6E-1B33-7E855F25D771}"/>
              </a:ext>
            </a:extLst>
          </p:cNvPr>
          <p:cNvSpPr txBox="1"/>
          <p:nvPr/>
        </p:nvSpPr>
        <p:spPr>
          <a:xfrm>
            <a:off x="6303127" y="4123930"/>
            <a:ext cx="1288116" cy="523220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algn="ctr"/>
            <a:r>
              <a:rPr lang="en-US" altLang="ko-KR" sz="1400" dirty="0"/>
              <a:t>Weekly staff meetings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F0F42347-04FB-8C6E-1160-9BB2EA83071C}"/>
              </a:ext>
            </a:extLst>
          </p:cNvPr>
          <p:cNvCxnSpPr>
            <a:stCxn id="51" idx="2"/>
          </p:cNvCxnSpPr>
          <p:nvPr/>
        </p:nvCxnSpPr>
        <p:spPr>
          <a:xfrm flipH="1">
            <a:off x="6402740" y="2382508"/>
            <a:ext cx="1" cy="10464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EF89188A-0E2F-4771-847F-FB7BCCE88CB9}"/>
              </a:ext>
            </a:extLst>
          </p:cNvPr>
          <p:cNvCxnSpPr>
            <a:cxnSpLocks/>
            <a:stCxn id="162" idx="0"/>
          </p:cNvCxnSpPr>
          <p:nvPr/>
        </p:nvCxnSpPr>
        <p:spPr>
          <a:xfrm flipV="1">
            <a:off x="6947185" y="3779282"/>
            <a:ext cx="0" cy="344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9766DDD4-4539-C39F-80A1-84A8D37CE5CC}"/>
              </a:ext>
            </a:extLst>
          </p:cNvPr>
          <p:cNvSpPr txBox="1"/>
          <p:nvPr/>
        </p:nvSpPr>
        <p:spPr>
          <a:xfrm>
            <a:off x="6209696" y="5042377"/>
            <a:ext cx="1474977" cy="523220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algn="ctr"/>
            <a:r>
              <a:rPr lang="en-US" altLang="ko-KR" sz="1400" dirty="0"/>
              <a:t>Continuous</a:t>
            </a:r>
          </a:p>
          <a:p>
            <a:pPr algn="ctr"/>
            <a:r>
              <a:rPr lang="en-US" altLang="ko-KR" sz="1400" dirty="0"/>
              <a:t>Improvement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CCC7785D-C968-B18D-A6B1-8595E67D270A}"/>
              </a:ext>
            </a:extLst>
          </p:cNvPr>
          <p:cNvCxnSpPr>
            <a:stCxn id="162" idx="2"/>
          </p:cNvCxnSpPr>
          <p:nvPr/>
        </p:nvCxnSpPr>
        <p:spPr>
          <a:xfrm>
            <a:off x="6947185" y="4647150"/>
            <a:ext cx="0" cy="3948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001FBB2B-6D06-DF5E-D0EF-E881E64FE7BC}"/>
              </a:ext>
            </a:extLst>
          </p:cNvPr>
          <p:cNvSpPr txBox="1"/>
          <p:nvPr/>
        </p:nvSpPr>
        <p:spPr>
          <a:xfrm>
            <a:off x="7742346" y="4097776"/>
            <a:ext cx="2561860" cy="1815882"/>
          </a:xfrm>
          <a:prstGeom prst="rect">
            <a:avLst/>
          </a:prstGeom>
          <a:solidFill>
            <a:srgbClr val="F3F1DE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1400" b="1" dirty="0"/>
              <a:t>Kickoff</a:t>
            </a:r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Configure POS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Configure customer feedback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Test system changes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7B851F02-C739-6301-D385-92E27D0E1D2A}"/>
              </a:ext>
            </a:extLst>
          </p:cNvPr>
          <p:cNvSpPr txBox="1"/>
          <p:nvPr/>
        </p:nvSpPr>
        <p:spPr>
          <a:xfrm>
            <a:off x="10630921" y="4130627"/>
            <a:ext cx="1288116" cy="523220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algn="ctr"/>
            <a:r>
              <a:rPr lang="en-US" altLang="ko-KR" sz="1400" dirty="0"/>
              <a:t>Weekly staff meetings</a:t>
            </a: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2DEE25F7-F63A-EED4-E076-ABD01D757250}"/>
              </a:ext>
            </a:extLst>
          </p:cNvPr>
          <p:cNvCxnSpPr>
            <a:cxnSpLocks/>
          </p:cNvCxnSpPr>
          <p:nvPr/>
        </p:nvCxnSpPr>
        <p:spPr>
          <a:xfrm flipV="1">
            <a:off x="11278055" y="3798332"/>
            <a:ext cx="0" cy="344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6D655FAB-FA48-41FF-F480-CE4D26F8609A}"/>
              </a:ext>
            </a:extLst>
          </p:cNvPr>
          <p:cNvSpPr txBox="1"/>
          <p:nvPr/>
        </p:nvSpPr>
        <p:spPr>
          <a:xfrm>
            <a:off x="10537490" y="5048716"/>
            <a:ext cx="1474977" cy="523220"/>
          </a:xfrm>
          <a:prstGeom prst="rect">
            <a:avLst/>
          </a:prstGeom>
          <a:solidFill>
            <a:srgbClr val="F3F1DE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algn="ctr"/>
            <a:r>
              <a:rPr lang="en-US" altLang="ko-KR" sz="1400" dirty="0"/>
              <a:t>Continuous</a:t>
            </a:r>
          </a:p>
          <a:p>
            <a:pPr algn="ctr"/>
            <a:r>
              <a:rPr lang="en-US" altLang="ko-KR" sz="1400" dirty="0"/>
              <a:t>Improvement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FC940A4E-ED49-2566-A61D-4502F79AA2ED}"/>
              </a:ext>
            </a:extLst>
          </p:cNvPr>
          <p:cNvCxnSpPr>
            <a:stCxn id="176" idx="2"/>
          </p:cNvCxnSpPr>
          <p:nvPr/>
        </p:nvCxnSpPr>
        <p:spPr>
          <a:xfrm>
            <a:off x="11274979" y="4653847"/>
            <a:ext cx="0" cy="3948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561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46609C-4892-41AD-CD44-0944BC8DE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827247"/>
              </p:ext>
            </p:extLst>
          </p:nvPr>
        </p:nvGraphicFramePr>
        <p:xfrm>
          <a:off x="988465" y="2479040"/>
          <a:ext cx="10215070" cy="18999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967543">
                  <a:extLst>
                    <a:ext uri="{9D8B030D-6E8A-4147-A177-3AD203B41FA5}">
                      <a16:colId xmlns:a16="http://schemas.microsoft.com/office/drawing/2014/main" val="3475282389"/>
                    </a:ext>
                  </a:extLst>
                </a:gridCol>
                <a:gridCol w="1269845">
                  <a:extLst>
                    <a:ext uri="{9D8B030D-6E8A-4147-A177-3AD203B41FA5}">
                      <a16:colId xmlns:a16="http://schemas.microsoft.com/office/drawing/2014/main" val="684257358"/>
                    </a:ext>
                  </a:extLst>
                </a:gridCol>
                <a:gridCol w="4977682">
                  <a:extLst>
                    <a:ext uri="{9D8B030D-6E8A-4147-A177-3AD203B41FA5}">
                      <a16:colId xmlns:a16="http://schemas.microsoft.com/office/drawing/2014/main" val="2016485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Risk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Severity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5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Mitigation Strategy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31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Kitchen staff resistance to more 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frequent prep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Involve staff in setting kanban thresholds </a:t>
                      </a:r>
                    </a:p>
                    <a:p>
                      <a:r>
                        <a:rPr lang="en-US" sz="1600" dirty="0"/>
                        <a:t>and designing methodology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957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Kanban signals missed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  <a:endParaRPr lang="en-US" sz="16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Place kanban board in easily visible location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for monitoring by both teams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797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POS system vendor delays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7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Engage vendor early in Week 3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73818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7F4E62F-C9D9-5BBD-ABA8-12BB1179EAA0}"/>
              </a:ext>
            </a:extLst>
          </p:cNvPr>
          <p:cNvSpPr txBox="1"/>
          <p:nvPr/>
        </p:nvSpPr>
        <p:spPr>
          <a:xfrm>
            <a:off x="3163068" y="404735"/>
            <a:ext cx="5865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Managing Challenges &amp; Risks</a:t>
            </a:r>
          </a:p>
        </p:txBody>
      </p:sp>
    </p:spTree>
    <p:extLst>
      <p:ext uri="{BB962C8B-B14F-4D97-AF65-F5344CB8AC3E}">
        <p14:creationId xmlns:p14="http://schemas.microsoft.com/office/powerpoint/2010/main" val="2338502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0E640E-E5FA-E424-DF1D-4B6EBE2B44E4}"/>
              </a:ext>
            </a:extLst>
          </p:cNvPr>
          <p:cNvSpPr txBox="1"/>
          <p:nvPr/>
        </p:nvSpPr>
        <p:spPr>
          <a:xfrm>
            <a:off x="4886984" y="434115"/>
            <a:ext cx="2418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Key Insights</a:t>
            </a:r>
          </a:p>
        </p:txBody>
      </p:sp>
      <p:pic>
        <p:nvPicPr>
          <p:cNvPr id="3" name="그래픽 501">
            <a:extLst>
              <a:ext uri="{FF2B5EF4-FFF2-40B4-BE49-F238E27FC236}">
                <a16:creationId xmlns:a16="http://schemas.microsoft.com/office/drawing/2014/main" id="{074D3308-41E7-0549-2E1D-A0AFED53A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6250" y="1635325"/>
            <a:ext cx="511025" cy="5871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B5F95C-1029-6100-FC12-BB74EEDB87BE}"/>
              </a:ext>
            </a:extLst>
          </p:cNvPr>
          <p:cNvSpPr txBox="1"/>
          <p:nvPr/>
        </p:nvSpPr>
        <p:spPr>
          <a:xfrm>
            <a:off x="3656826" y="1635325"/>
            <a:ext cx="5734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Process mining revealed non-sequential, disconnected workflows invisible to observation alone</a:t>
            </a:r>
          </a:p>
        </p:txBody>
      </p:sp>
      <p:pic>
        <p:nvPicPr>
          <p:cNvPr id="5" name="그래픽 501">
            <a:extLst>
              <a:ext uri="{FF2B5EF4-FFF2-40B4-BE49-F238E27FC236}">
                <a16:creationId xmlns:a16="http://schemas.microsoft.com/office/drawing/2014/main" id="{29EB926D-C14F-1CB3-4DE3-40BF73808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6250" y="2520340"/>
            <a:ext cx="511025" cy="5871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7C83C6-E6F8-474B-5DBF-570041F9FDC6}"/>
              </a:ext>
            </a:extLst>
          </p:cNvPr>
          <p:cNvSpPr txBox="1"/>
          <p:nvPr/>
        </p:nvSpPr>
        <p:spPr>
          <a:xfrm>
            <a:off x="3656826" y="2520340"/>
            <a:ext cx="5734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Root cause analysis showed coordination failure, not individual performance issues</a:t>
            </a:r>
          </a:p>
        </p:txBody>
      </p:sp>
      <p:pic>
        <p:nvPicPr>
          <p:cNvPr id="7" name="그래픽 501">
            <a:extLst>
              <a:ext uri="{FF2B5EF4-FFF2-40B4-BE49-F238E27FC236}">
                <a16:creationId xmlns:a16="http://schemas.microsoft.com/office/drawing/2014/main" id="{6BA516BC-EE50-629A-5BFC-25B623E01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6250" y="3405355"/>
            <a:ext cx="511025" cy="5871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188534-11F3-064D-92A4-4A94A1C7D797}"/>
              </a:ext>
            </a:extLst>
          </p:cNvPr>
          <p:cNvSpPr txBox="1"/>
          <p:nvPr/>
        </p:nvSpPr>
        <p:spPr>
          <a:xfrm>
            <a:off x="3656826" y="3435555"/>
            <a:ext cx="5939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Lean waste methodology directly addressed all identified bottlenecks</a:t>
            </a:r>
          </a:p>
        </p:txBody>
      </p:sp>
      <p:pic>
        <p:nvPicPr>
          <p:cNvPr id="9" name="그래픽 501">
            <a:extLst>
              <a:ext uri="{FF2B5EF4-FFF2-40B4-BE49-F238E27FC236}">
                <a16:creationId xmlns:a16="http://schemas.microsoft.com/office/drawing/2014/main" id="{5A88C0BD-F1E6-5E48-C7A8-E34B3EAD2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6250" y="4322722"/>
            <a:ext cx="511025" cy="5871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DE51B4-5554-4F67-2ED9-9F49E8C5DAE5}"/>
              </a:ext>
            </a:extLst>
          </p:cNvPr>
          <p:cNvSpPr txBox="1"/>
          <p:nvPr/>
        </p:nvSpPr>
        <p:spPr>
          <a:xfrm>
            <a:off x="3656826" y="4320570"/>
            <a:ext cx="5110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2-phased implementation critical for managing organizational change</a:t>
            </a:r>
          </a:p>
        </p:txBody>
      </p:sp>
    </p:spTree>
    <p:extLst>
      <p:ext uri="{BB962C8B-B14F-4D97-AF65-F5344CB8AC3E}">
        <p14:creationId xmlns:p14="http://schemas.microsoft.com/office/powerpoint/2010/main" val="1152136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래픽 35">
            <a:extLst>
              <a:ext uri="{FF2B5EF4-FFF2-40B4-BE49-F238E27FC236}">
                <a16:creationId xmlns:a16="http://schemas.microsoft.com/office/drawing/2014/main" id="{21C00CCF-E5AC-4842-9981-E79026BC0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1658" y="2263425"/>
            <a:ext cx="498476" cy="49847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868C08B-6CEB-4A2E-8477-6CC66F790A36}"/>
              </a:ext>
            </a:extLst>
          </p:cNvPr>
          <p:cNvSpPr txBox="1"/>
          <p:nvPr/>
        </p:nvSpPr>
        <p:spPr>
          <a:xfrm>
            <a:off x="2271908" y="2144449"/>
            <a:ext cx="30521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sz="1400" b="1" dirty="0">
                <a:latin typeface="Montserrat" panose="00000500000000000000" pitchFamily="2" charset="0"/>
              </a:rPr>
              <a:t>Franchise-ready operations</a:t>
            </a:r>
          </a:p>
          <a:p>
            <a:r>
              <a:rPr lang="en-US" sz="1400" dirty="0"/>
              <a:t>Standardized workflows enable process replication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554A4D-0260-4E3F-B7F6-0391CDA19348}"/>
              </a:ext>
            </a:extLst>
          </p:cNvPr>
          <p:cNvSpPr txBox="1"/>
          <p:nvPr/>
        </p:nvSpPr>
        <p:spPr>
          <a:xfrm>
            <a:off x="7094732" y="2144449"/>
            <a:ext cx="3630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sz="1400" b="1" dirty="0">
                <a:latin typeface="Montserrat" panose="00000500000000000000" pitchFamily="2" charset="0"/>
              </a:rPr>
              <a:t>Improved customer experience</a:t>
            </a:r>
          </a:p>
          <a:p>
            <a:r>
              <a:rPr lang="en-US" sz="1400" dirty="0"/>
              <a:t>Consistent quality, reduced wait times</a:t>
            </a:r>
            <a:endParaRPr lang="ko-KR" alt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F13F41-815E-4C14-AD9A-88B1B9269A85}"/>
              </a:ext>
            </a:extLst>
          </p:cNvPr>
          <p:cNvSpPr txBox="1"/>
          <p:nvPr/>
        </p:nvSpPr>
        <p:spPr>
          <a:xfrm>
            <a:off x="2271908" y="3974887"/>
            <a:ext cx="3556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1400" b="1" dirty="0">
                <a:latin typeface="Montserrat" panose="00000500000000000000" pitchFamily="2" charset="0"/>
              </a:rPr>
              <a:t>Inventory management</a:t>
            </a:r>
          </a:p>
          <a:p>
            <a:r>
              <a:rPr lang="en-US" sz="1400" dirty="0"/>
              <a:t>Reduced waste, faster service, reliable ingredients</a:t>
            </a:r>
            <a:endParaRPr lang="ko-KR" alt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C81FCC-1E1D-49CE-B283-D7B99F25CB6E}"/>
              </a:ext>
            </a:extLst>
          </p:cNvPr>
          <p:cNvSpPr txBox="1"/>
          <p:nvPr/>
        </p:nvSpPr>
        <p:spPr>
          <a:xfrm>
            <a:off x="7097186" y="3974887"/>
            <a:ext cx="4636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sz="1400" b="1" dirty="0">
                <a:latin typeface="Montserrat" panose="00000500000000000000" pitchFamily="2" charset="0"/>
              </a:rPr>
              <a:t>Data-driven improvement</a:t>
            </a:r>
          </a:p>
          <a:p>
            <a:r>
              <a:rPr lang="en-US" sz="1400" dirty="0"/>
              <a:t>Feedback system enables ongoing optimization</a:t>
            </a:r>
            <a:endParaRPr lang="ko-KR" altLang="en-US" sz="1400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2E9655B-87E1-4329-90D8-7584C46AC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4483" y="2263122"/>
            <a:ext cx="498476" cy="4984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57C9BC-6E26-04F9-DA18-51BEA3B67D75}"/>
              </a:ext>
            </a:extLst>
          </p:cNvPr>
          <p:cNvSpPr txBox="1"/>
          <p:nvPr/>
        </p:nvSpPr>
        <p:spPr>
          <a:xfrm>
            <a:off x="4026719" y="252456"/>
            <a:ext cx="4138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j-lt"/>
              </a:rPr>
              <a:t>Benefits </a:t>
            </a:r>
            <a:r>
              <a:rPr lang="en-US" sz="2000" dirty="0">
                <a:latin typeface="+mj-lt"/>
              </a:rPr>
              <a:t>for</a:t>
            </a:r>
            <a:r>
              <a:rPr lang="en-US" sz="3200" dirty="0">
                <a:latin typeface="+mj-lt"/>
              </a:rPr>
              <a:t> Udon-ya</a:t>
            </a:r>
          </a:p>
        </p:txBody>
      </p:sp>
      <p:pic>
        <p:nvPicPr>
          <p:cNvPr id="4" name="그래픽 35">
            <a:extLst>
              <a:ext uri="{FF2B5EF4-FFF2-40B4-BE49-F238E27FC236}">
                <a16:creationId xmlns:a16="http://schemas.microsoft.com/office/drawing/2014/main" id="{96F250AA-8514-0F1F-473C-227773D26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1658" y="3953466"/>
            <a:ext cx="498476" cy="498474"/>
          </a:xfrm>
          <a:prstGeom prst="rect">
            <a:avLst/>
          </a:prstGeom>
        </p:spPr>
      </p:pic>
      <p:pic>
        <p:nvPicPr>
          <p:cNvPr id="5" name="그래픽 35">
            <a:extLst>
              <a:ext uri="{FF2B5EF4-FFF2-40B4-BE49-F238E27FC236}">
                <a16:creationId xmlns:a16="http://schemas.microsoft.com/office/drawing/2014/main" id="{7C3A9C53-5B41-FC10-2C98-E4433ABBF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4094" y="4068203"/>
            <a:ext cx="498476" cy="49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796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5F2D1C85-5D9B-4790-B25E-9F055CDE9974}"/>
              </a:ext>
            </a:extLst>
          </p:cNvPr>
          <p:cNvSpPr/>
          <p:nvPr/>
        </p:nvSpPr>
        <p:spPr>
          <a:xfrm>
            <a:off x="4120268" y="1545335"/>
            <a:ext cx="3892322" cy="3892321"/>
          </a:xfrm>
          <a:custGeom>
            <a:avLst/>
            <a:gdLst>
              <a:gd name="connsiteX0" fmla="*/ 4337330 w 5075645"/>
              <a:gd name="connsiteY0" fmla="*/ 807980 h 5075645"/>
              <a:gd name="connsiteX1" fmla="*/ 2625569 w 5075645"/>
              <a:gd name="connsiteY1" fmla="*/ 52470 h 5075645"/>
              <a:gd name="connsiteX2" fmla="*/ 2625315 w 5075645"/>
              <a:gd name="connsiteY2" fmla="*/ 52470 h 5075645"/>
              <a:gd name="connsiteX3" fmla="*/ 2624807 w 5075645"/>
              <a:gd name="connsiteY3" fmla="*/ 52470 h 5075645"/>
              <a:gd name="connsiteX4" fmla="*/ 2611611 w 5075645"/>
              <a:gd name="connsiteY4" fmla="*/ 51963 h 5075645"/>
              <a:gd name="connsiteX5" fmla="*/ 2546642 w 5075645"/>
              <a:gd name="connsiteY5" fmla="*/ 50694 h 5075645"/>
              <a:gd name="connsiteX6" fmla="*/ 50694 w 5075645"/>
              <a:gd name="connsiteY6" fmla="*/ 2546389 h 5075645"/>
              <a:gd name="connsiteX7" fmla="*/ 2546642 w 5075645"/>
              <a:gd name="connsiteY7" fmla="*/ 5042083 h 5075645"/>
              <a:gd name="connsiteX8" fmla="*/ 2611611 w 5075645"/>
              <a:gd name="connsiteY8" fmla="*/ 5040814 h 5075645"/>
              <a:gd name="connsiteX9" fmla="*/ 2624807 w 5075645"/>
              <a:gd name="connsiteY9" fmla="*/ 5040307 h 5075645"/>
              <a:gd name="connsiteX10" fmla="*/ 2625315 w 5075645"/>
              <a:gd name="connsiteY10" fmla="*/ 5040307 h 5075645"/>
              <a:gd name="connsiteX11" fmla="*/ 2625569 w 5075645"/>
              <a:gd name="connsiteY11" fmla="*/ 5040307 h 5075645"/>
              <a:gd name="connsiteX12" fmla="*/ 4337330 w 5075645"/>
              <a:gd name="connsiteY12" fmla="*/ 4284797 h 5075645"/>
              <a:gd name="connsiteX13" fmla="*/ 5042591 w 5075645"/>
              <a:gd name="connsiteY13" fmla="*/ 2546389 h 5075645"/>
              <a:gd name="connsiteX14" fmla="*/ 4337330 w 5075645"/>
              <a:gd name="connsiteY14" fmla="*/ 807980 h 5075645"/>
              <a:gd name="connsiteX15" fmla="*/ 2591816 w 5075645"/>
              <a:gd name="connsiteY15" fmla="*/ 3949551 h 5075645"/>
              <a:gd name="connsiteX16" fmla="*/ 2575066 w 5075645"/>
              <a:gd name="connsiteY16" fmla="*/ 3950058 h 5075645"/>
              <a:gd name="connsiteX17" fmla="*/ 2546896 w 5075645"/>
              <a:gd name="connsiteY17" fmla="*/ 3950820 h 5075645"/>
              <a:gd name="connsiteX18" fmla="*/ 1142211 w 5075645"/>
              <a:gd name="connsiteY18" fmla="*/ 2546389 h 5075645"/>
              <a:gd name="connsiteX19" fmla="*/ 2546896 w 5075645"/>
              <a:gd name="connsiteY19" fmla="*/ 1141957 h 5075645"/>
              <a:gd name="connsiteX20" fmla="*/ 2575066 w 5075645"/>
              <a:gd name="connsiteY20" fmla="*/ 1142719 h 5075645"/>
              <a:gd name="connsiteX21" fmla="*/ 2591816 w 5075645"/>
              <a:gd name="connsiteY21" fmla="*/ 1143226 h 5075645"/>
              <a:gd name="connsiteX22" fmla="*/ 3951328 w 5075645"/>
              <a:gd name="connsiteY22" fmla="*/ 2546389 h 5075645"/>
              <a:gd name="connsiteX23" fmla="*/ 2591816 w 5075645"/>
              <a:gd name="connsiteY23" fmla="*/ 3949551 h 5075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075645" h="5075645">
                <a:moveTo>
                  <a:pt x="4337330" y="807980"/>
                </a:moveTo>
                <a:cubicBezTo>
                  <a:pt x="3883567" y="341021"/>
                  <a:pt x="3275759" y="72773"/>
                  <a:pt x="2625569" y="52470"/>
                </a:cubicBezTo>
                <a:cubicBezTo>
                  <a:pt x="2625569" y="52470"/>
                  <a:pt x="2625569" y="52470"/>
                  <a:pt x="2625315" y="52470"/>
                </a:cubicBezTo>
                <a:cubicBezTo>
                  <a:pt x="2625061" y="52470"/>
                  <a:pt x="2625061" y="52470"/>
                  <a:pt x="2624807" y="52470"/>
                </a:cubicBezTo>
                <a:lnTo>
                  <a:pt x="2611611" y="51963"/>
                </a:lnTo>
                <a:cubicBezTo>
                  <a:pt x="2590039" y="51201"/>
                  <a:pt x="2568468" y="50694"/>
                  <a:pt x="2546642" y="50694"/>
                </a:cubicBezTo>
                <a:cubicBezTo>
                  <a:pt x="1170381" y="50694"/>
                  <a:pt x="50694" y="1170381"/>
                  <a:pt x="50694" y="2546389"/>
                </a:cubicBezTo>
                <a:cubicBezTo>
                  <a:pt x="50694" y="3922396"/>
                  <a:pt x="1170381" y="5042083"/>
                  <a:pt x="2546642" y="5042083"/>
                </a:cubicBezTo>
                <a:cubicBezTo>
                  <a:pt x="2568468" y="5042083"/>
                  <a:pt x="2590039" y="5041576"/>
                  <a:pt x="2611611" y="5040814"/>
                </a:cubicBezTo>
                <a:lnTo>
                  <a:pt x="2624807" y="5040307"/>
                </a:lnTo>
                <a:cubicBezTo>
                  <a:pt x="2625061" y="5040307"/>
                  <a:pt x="2625061" y="5040307"/>
                  <a:pt x="2625315" y="5040307"/>
                </a:cubicBezTo>
                <a:cubicBezTo>
                  <a:pt x="2625315" y="5040307"/>
                  <a:pt x="2625315" y="5040307"/>
                  <a:pt x="2625569" y="5040307"/>
                </a:cubicBezTo>
                <a:cubicBezTo>
                  <a:pt x="3275759" y="5020004"/>
                  <a:pt x="3883567" y="4751756"/>
                  <a:pt x="4337330" y="4284797"/>
                </a:cubicBezTo>
                <a:cubicBezTo>
                  <a:pt x="4792108" y="3816569"/>
                  <a:pt x="5042591" y="3199370"/>
                  <a:pt x="5042591" y="2546389"/>
                </a:cubicBezTo>
                <a:cubicBezTo>
                  <a:pt x="5042591" y="1893407"/>
                  <a:pt x="4792108" y="1275954"/>
                  <a:pt x="4337330" y="807980"/>
                </a:cubicBezTo>
                <a:close/>
                <a:moveTo>
                  <a:pt x="2591816" y="3949551"/>
                </a:moveTo>
                <a:lnTo>
                  <a:pt x="2575066" y="3950058"/>
                </a:lnTo>
                <a:cubicBezTo>
                  <a:pt x="2565676" y="3950312"/>
                  <a:pt x="2556286" y="3950820"/>
                  <a:pt x="2546896" y="3950820"/>
                </a:cubicBezTo>
                <a:cubicBezTo>
                  <a:pt x="1772353" y="3950820"/>
                  <a:pt x="1142211" y="3320678"/>
                  <a:pt x="1142211" y="2546389"/>
                </a:cubicBezTo>
                <a:cubicBezTo>
                  <a:pt x="1142211" y="1772099"/>
                  <a:pt x="1772353" y="1141957"/>
                  <a:pt x="2546896" y="1141957"/>
                </a:cubicBezTo>
                <a:cubicBezTo>
                  <a:pt x="2556286" y="1141957"/>
                  <a:pt x="2565676" y="1142465"/>
                  <a:pt x="2575066" y="1142719"/>
                </a:cubicBezTo>
                <a:lnTo>
                  <a:pt x="2591816" y="1143226"/>
                </a:lnTo>
                <a:cubicBezTo>
                  <a:pt x="3354178" y="1167082"/>
                  <a:pt x="3951328" y="1783519"/>
                  <a:pt x="3951328" y="2546389"/>
                </a:cubicBezTo>
                <a:cubicBezTo>
                  <a:pt x="3951328" y="3309258"/>
                  <a:pt x="3354178" y="3925695"/>
                  <a:pt x="2591816" y="3949551"/>
                </a:cubicBezTo>
                <a:close/>
              </a:path>
            </a:pathLst>
          </a:custGeom>
          <a:solidFill>
            <a:srgbClr val="84A2C9">
              <a:alpha val="23000"/>
            </a:srgbClr>
          </a:solidFill>
          <a:ln w="2536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14E95FA8-95FA-4232-8436-D182A5C41735}"/>
              </a:ext>
            </a:extLst>
          </p:cNvPr>
          <p:cNvSpPr/>
          <p:nvPr/>
        </p:nvSpPr>
        <p:spPr>
          <a:xfrm>
            <a:off x="4871438" y="2257192"/>
            <a:ext cx="2179701" cy="2179700"/>
          </a:xfrm>
          <a:custGeom>
            <a:avLst/>
            <a:gdLst>
              <a:gd name="connsiteX0" fmla="*/ 1468384 w 2842361"/>
              <a:gd name="connsiteY0" fmla="*/ 20303 h 2842361"/>
              <a:gd name="connsiteX1" fmla="*/ 1468384 w 2842361"/>
              <a:gd name="connsiteY1" fmla="*/ 20303 h 2842361"/>
              <a:gd name="connsiteX2" fmla="*/ 1452396 w 2842361"/>
              <a:gd name="connsiteY2" fmla="*/ 19795 h 2842361"/>
              <a:gd name="connsiteX3" fmla="*/ 1423719 w 2842361"/>
              <a:gd name="connsiteY3" fmla="*/ 19034 h 2842361"/>
              <a:gd name="connsiteX4" fmla="*/ 19034 w 2842361"/>
              <a:gd name="connsiteY4" fmla="*/ 1423718 h 2842361"/>
              <a:gd name="connsiteX5" fmla="*/ 1423719 w 2842361"/>
              <a:gd name="connsiteY5" fmla="*/ 2828150 h 2842361"/>
              <a:gd name="connsiteX6" fmla="*/ 1452650 w 2842361"/>
              <a:gd name="connsiteY6" fmla="*/ 2827388 h 2842361"/>
              <a:gd name="connsiteX7" fmla="*/ 1468384 w 2842361"/>
              <a:gd name="connsiteY7" fmla="*/ 2826881 h 2842361"/>
              <a:gd name="connsiteX8" fmla="*/ 1468384 w 2842361"/>
              <a:gd name="connsiteY8" fmla="*/ 2826881 h 2842361"/>
              <a:gd name="connsiteX9" fmla="*/ 2828150 w 2842361"/>
              <a:gd name="connsiteY9" fmla="*/ 1423718 h 2842361"/>
              <a:gd name="connsiteX10" fmla="*/ 1468384 w 2842361"/>
              <a:gd name="connsiteY10" fmla="*/ 20303 h 2842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42361" h="2842361">
                <a:moveTo>
                  <a:pt x="1468384" y="20303"/>
                </a:moveTo>
                <a:cubicBezTo>
                  <a:pt x="1468384" y="20303"/>
                  <a:pt x="1468384" y="20303"/>
                  <a:pt x="1468384" y="20303"/>
                </a:cubicBezTo>
                <a:lnTo>
                  <a:pt x="1452396" y="19795"/>
                </a:lnTo>
                <a:cubicBezTo>
                  <a:pt x="1442752" y="19541"/>
                  <a:pt x="1433362" y="19034"/>
                  <a:pt x="1423719" y="19034"/>
                </a:cubicBezTo>
                <a:cubicBezTo>
                  <a:pt x="649175" y="19034"/>
                  <a:pt x="19034" y="649175"/>
                  <a:pt x="19034" y="1423718"/>
                </a:cubicBezTo>
                <a:cubicBezTo>
                  <a:pt x="19034" y="2198262"/>
                  <a:pt x="649175" y="2828150"/>
                  <a:pt x="1423719" y="2828150"/>
                </a:cubicBezTo>
                <a:cubicBezTo>
                  <a:pt x="1433362" y="2828150"/>
                  <a:pt x="1443006" y="2827642"/>
                  <a:pt x="1452650" y="2827388"/>
                </a:cubicBezTo>
                <a:lnTo>
                  <a:pt x="1468384" y="2826881"/>
                </a:lnTo>
                <a:cubicBezTo>
                  <a:pt x="1468384" y="2826881"/>
                  <a:pt x="1468384" y="2826881"/>
                  <a:pt x="1468384" y="2826881"/>
                </a:cubicBezTo>
                <a:cubicBezTo>
                  <a:pt x="2231000" y="2803025"/>
                  <a:pt x="2828150" y="2186842"/>
                  <a:pt x="2828150" y="1423718"/>
                </a:cubicBezTo>
                <a:cubicBezTo>
                  <a:pt x="2828150" y="660595"/>
                  <a:pt x="2230746" y="44158"/>
                  <a:pt x="1468384" y="20303"/>
                </a:cubicBez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EB7EBD6C-788E-4B54-8AED-25B983CEEF92}"/>
              </a:ext>
            </a:extLst>
          </p:cNvPr>
          <p:cNvSpPr/>
          <p:nvPr/>
        </p:nvSpPr>
        <p:spPr>
          <a:xfrm>
            <a:off x="5678106" y="3458535"/>
            <a:ext cx="2296470" cy="1926699"/>
          </a:xfrm>
          <a:custGeom>
            <a:avLst/>
            <a:gdLst>
              <a:gd name="connsiteX0" fmla="*/ 2453076 w 2994630"/>
              <a:gd name="connsiteY0" fmla="*/ 564666 h 2512444"/>
              <a:gd name="connsiteX1" fmla="*/ 1907444 w 2994630"/>
              <a:gd name="connsiteY1" fmla="*/ 19034 h 2512444"/>
              <a:gd name="connsiteX2" fmla="*/ 547679 w 2994630"/>
              <a:gd name="connsiteY2" fmla="*/ 1422196 h 2512444"/>
              <a:gd name="connsiteX3" fmla="*/ 547679 w 2994630"/>
              <a:gd name="connsiteY3" fmla="*/ 1422196 h 2512444"/>
              <a:gd name="connsiteX4" fmla="*/ 19304 w 2994630"/>
              <a:gd name="connsiteY4" fmla="*/ 1984577 h 2512444"/>
              <a:gd name="connsiteX5" fmla="*/ 564428 w 2994630"/>
              <a:gd name="connsiteY5" fmla="*/ 2513206 h 2512444"/>
              <a:gd name="connsiteX6" fmla="*/ 581685 w 2994630"/>
              <a:gd name="connsiteY6" fmla="*/ 2512952 h 2512444"/>
              <a:gd name="connsiteX7" fmla="*/ 582193 w 2994630"/>
              <a:gd name="connsiteY7" fmla="*/ 2512952 h 2512444"/>
              <a:gd name="connsiteX8" fmla="*/ 2293447 w 2994630"/>
              <a:gd name="connsiteY8" fmla="*/ 1757442 h 2512444"/>
              <a:gd name="connsiteX9" fmla="*/ 2998708 w 2994630"/>
              <a:gd name="connsiteY9" fmla="*/ 19034 h 2512444"/>
              <a:gd name="connsiteX10" fmla="*/ 2453076 w 2994630"/>
              <a:gd name="connsiteY10" fmla="*/ 564666 h 251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94630" h="2512444">
                <a:moveTo>
                  <a:pt x="2453076" y="564666"/>
                </a:moveTo>
                <a:cubicBezTo>
                  <a:pt x="2151837" y="564666"/>
                  <a:pt x="1907444" y="320273"/>
                  <a:pt x="1907444" y="19034"/>
                </a:cubicBezTo>
                <a:cubicBezTo>
                  <a:pt x="1907444" y="782157"/>
                  <a:pt x="1310040" y="1398594"/>
                  <a:pt x="547679" y="1422196"/>
                </a:cubicBezTo>
                <a:cubicBezTo>
                  <a:pt x="547679" y="1422196"/>
                  <a:pt x="547679" y="1422196"/>
                  <a:pt x="547679" y="1422196"/>
                </a:cubicBezTo>
                <a:cubicBezTo>
                  <a:pt x="246439" y="1431586"/>
                  <a:pt x="9914" y="1683338"/>
                  <a:pt x="19304" y="1984577"/>
                </a:cubicBezTo>
                <a:cubicBezTo>
                  <a:pt x="28440" y="2279980"/>
                  <a:pt x="270802" y="2513206"/>
                  <a:pt x="564428" y="2513206"/>
                </a:cubicBezTo>
                <a:cubicBezTo>
                  <a:pt x="570265" y="2513206"/>
                  <a:pt x="575848" y="2513206"/>
                  <a:pt x="581685" y="2512952"/>
                </a:cubicBezTo>
                <a:cubicBezTo>
                  <a:pt x="581939" y="2512952"/>
                  <a:pt x="581939" y="2512952"/>
                  <a:pt x="582193" y="2512952"/>
                </a:cubicBezTo>
                <a:cubicBezTo>
                  <a:pt x="1232129" y="2492650"/>
                  <a:pt x="1839938" y="2224148"/>
                  <a:pt x="2293447" y="1757442"/>
                </a:cubicBezTo>
                <a:cubicBezTo>
                  <a:pt x="2748225" y="1289214"/>
                  <a:pt x="2998708" y="672016"/>
                  <a:pt x="2998708" y="19034"/>
                </a:cubicBezTo>
                <a:cubicBezTo>
                  <a:pt x="2998708" y="320273"/>
                  <a:pt x="2754315" y="564666"/>
                  <a:pt x="2453076" y="564666"/>
                </a:cubicBezTo>
                <a:close/>
              </a:path>
            </a:pathLst>
          </a:custGeom>
          <a:solidFill>
            <a:srgbClr val="B5331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1ED8DC1B-59D0-4BCD-8CCA-5CF3B2A9274B}"/>
              </a:ext>
            </a:extLst>
          </p:cNvPr>
          <p:cNvSpPr/>
          <p:nvPr/>
        </p:nvSpPr>
        <p:spPr>
          <a:xfrm>
            <a:off x="6083504" y="1558549"/>
            <a:ext cx="1907237" cy="2354854"/>
          </a:xfrm>
          <a:custGeom>
            <a:avLst/>
            <a:gdLst>
              <a:gd name="connsiteX0" fmla="*/ 1764802 w 2487066"/>
              <a:gd name="connsiteY0" fmla="*/ 774543 h 3070765"/>
              <a:gd name="connsiteX1" fmla="*/ 53548 w 2487066"/>
              <a:gd name="connsiteY1" fmla="*/ 19034 h 3070765"/>
              <a:gd name="connsiteX2" fmla="*/ 581415 w 2487066"/>
              <a:gd name="connsiteY2" fmla="*/ 581415 h 3070765"/>
              <a:gd name="connsiteX3" fmla="*/ 19034 w 2487066"/>
              <a:gd name="connsiteY3" fmla="*/ 1109790 h 3070765"/>
              <a:gd name="connsiteX4" fmla="*/ 1378799 w 2487066"/>
              <a:gd name="connsiteY4" fmla="*/ 2512952 h 3070765"/>
              <a:gd name="connsiteX5" fmla="*/ 1924431 w 2487066"/>
              <a:gd name="connsiteY5" fmla="*/ 3058584 h 3070765"/>
              <a:gd name="connsiteX6" fmla="*/ 2470063 w 2487066"/>
              <a:gd name="connsiteY6" fmla="*/ 2512952 h 3070765"/>
              <a:gd name="connsiteX7" fmla="*/ 1764802 w 2487066"/>
              <a:gd name="connsiteY7" fmla="*/ 774543 h 307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87066" h="3070765">
                <a:moveTo>
                  <a:pt x="1764802" y="774543"/>
                </a:moveTo>
                <a:cubicBezTo>
                  <a:pt x="1311293" y="307584"/>
                  <a:pt x="703485" y="39336"/>
                  <a:pt x="53548" y="19034"/>
                </a:cubicBezTo>
                <a:cubicBezTo>
                  <a:pt x="354534" y="28677"/>
                  <a:pt x="590805" y="280429"/>
                  <a:pt x="581415" y="581415"/>
                </a:cubicBezTo>
                <a:cubicBezTo>
                  <a:pt x="572025" y="882655"/>
                  <a:pt x="320781" y="1119687"/>
                  <a:pt x="19034" y="1109790"/>
                </a:cubicBezTo>
                <a:cubicBezTo>
                  <a:pt x="781650" y="1133645"/>
                  <a:pt x="1378799" y="1750082"/>
                  <a:pt x="1378799" y="2512952"/>
                </a:cubicBezTo>
                <a:cubicBezTo>
                  <a:pt x="1378799" y="2814192"/>
                  <a:pt x="1623192" y="3058584"/>
                  <a:pt x="1924431" y="3058584"/>
                </a:cubicBezTo>
                <a:cubicBezTo>
                  <a:pt x="2225671" y="3058584"/>
                  <a:pt x="2470063" y="2814192"/>
                  <a:pt x="2470063" y="2512952"/>
                </a:cubicBezTo>
                <a:cubicBezTo>
                  <a:pt x="2470063" y="1860224"/>
                  <a:pt x="2219580" y="1242772"/>
                  <a:pt x="1764802" y="774543"/>
                </a:cubicBezTo>
                <a:close/>
              </a:path>
            </a:pathLst>
          </a:custGeom>
          <a:solidFill>
            <a:srgbClr val="EF9F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459251B5-76AD-4B8A-BB2E-AF0538EF256D}"/>
              </a:ext>
            </a:extLst>
          </p:cNvPr>
          <p:cNvSpPr/>
          <p:nvPr/>
        </p:nvSpPr>
        <p:spPr>
          <a:xfrm>
            <a:off x="4147902" y="3040111"/>
            <a:ext cx="1985084" cy="2354854"/>
          </a:xfrm>
          <a:custGeom>
            <a:avLst/>
            <a:gdLst>
              <a:gd name="connsiteX0" fmla="*/ 2593655 w 2588579"/>
              <a:gd name="connsiteY0" fmla="*/ 3058584 h 3070765"/>
              <a:gd name="connsiteX1" fmla="*/ 2576398 w 2588579"/>
              <a:gd name="connsiteY1" fmla="*/ 3058838 h 3070765"/>
              <a:gd name="connsiteX2" fmla="*/ 2031273 w 2588579"/>
              <a:gd name="connsiteY2" fmla="*/ 2530209 h 3070765"/>
              <a:gd name="connsiteX3" fmla="*/ 2559648 w 2588579"/>
              <a:gd name="connsiteY3" fmla="*/ 1967828 h 3070765"/>
              <a:gd name="connsiteX4" fmla="*/ 2559648 w 2588579"/>
              <a:gd name="connsiteY4" fmla="*/ 1967828 h 3070765"/>
              <a:gd name="connsiteX5" fmla="*/ 2559648 w 2588579"/>
              <a:gd name="connsiteY5" fmla="*/ 1967828 h 3070765"/>
              <a:gd name="connsiteX6" fmla="*/ 2543914 w 2588579"/>
              <a:gd name="connsiteY6" fmla="*/ 1968335 h 3070765"/>
              <a:gd name="connsiteX7" fmla="*/ 2514982 w 2588579"/>
              <a:gd name="connsiteY7" fmla="*/ 1969097 h 3070765"/>
              <a:gd name="connsiteX8" fmla="*/ 1110298 w 2588579"/>
              <a:gd name="connsiteY8" fmla="*/ 564666 h 3070765"/>
              <a:gd name="connsiteX9" fmla="*/ 564666 w 2588579"/>
              <a:gd name="connsiteY9" fmla="*/ 19034 h 3070765"/>
              <a:gd name="connsiteX10" fmla="*/ 19034 w 2588579"/>
              <a:gd name="connsiteY10" fmla="*/ 564666 h 3070765"/>
              <a:gd name="connsiteX11" fmla="*/ 2514982 w 2588579"/>
              <a:gd name="connsiteY11" fmla="*/ 3060360 h 3070765"/>
              <a:gd name="connsiteX12" fmla="*/ 2581473 w 2588579"/>
              <a:gd name="connsiteY12" fmla="*/ 3058838 h 3070765"/>
              <a:gd name="connsiteX13" fmla="*/ 2593655 w 2588579"/>
              <a:gd name="connsiteY13" fmla="*/ 3058584 h 3070765"/>
              <a:gd name="connsiteX14" fmla="*/ 2594163 w 2588579"/>
              <a:gd name="connsiteY14" fmla="*/ 3058584 h 3070765"/>
              <a:gd name="connsiteX15" fmla="*/ 2593655 w 2588579"/>
              <a:gd name="connsiteY15" fmla="*/ 3058584 h 307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88579" h="3070765">
                <a:moveTo>
                  <a:pt x="2593655" y="3058584"/>
                </a:moveTo>
                <a:cubicBezTo>
                  <a:pt x="2587818" y="3058838"/>
                  <a:pt x="2581981" y="3058838"/>
                  <a:pt x="2576398" y="3058838"/>
                </a:cubicBezTo>
                <a:cubicBezTo>
                  <a:pt x="2283025" y="3058838"/>
                  <a:pt x="2040663" y="2825612"/>
                  <a:pt x="2031273" y="2530209"/>
                </a:cubicBezTo>
                <a:cubicBezTo>
                  <a:pt x="2021883" y="2228970"/>
                  <a:pt x="2258409" y="1977218"/>
                  <a:pt x="2559648" y="1967828"/>
                </a:cubicBezTo>
                <a:cubicBezTo>
                  <a:pt x="2559648" y="1967828"/>
                  <a:pt x="2559648" y="1967828"/>
                  <a:pt x="2559648" y="1967828"/>
                </a:cubicBezTo>
                <a:cubicBezTo>
                  <a:pt x="2559648" y="1967828"/>
                  <a:pt x="2559648" y="1967828"/>
                  <a:pt x="2559648" y="1967828"/>
                </a:cubicBezTo>
                <a:lnTo>
                  <a:pt x="2543914" y="1968335"/>
                </a:lnTo>
                <a:cubicBezTo>
                  <a:pt x="2534270" y="1968589"/>
                  <a:pt x="2524626" y="1969097"/>
                  <a:pt x="2514982" y="1969097"/>
                </a:cubicBezTo>
                <a:cubicBezTo>
                  <a:pt x="1740439" y="1969097"/>
                  <a:pt x="1110298" y="1338955"/>
                  <a:pt x="1110298" y="564666"/>
                </a:cubicBezTo>
                <a:cubicBezTo>
                  <a:pt x="1110298" y="263426"/>
                  <a:pt x="865905" y="19034"/>
                  <a:pt x="564666" y="19034"/>
                </a:cubicBezTo>
                <a:cubicBezTo>
                  <a:pt x="263426" y="19034"/>
                  <a:pt x="19034" y="263172"/>
                  <a:pt x="19034" y="564666"/>
                </a:cubicBezTo>
                <a:cubicBezTo>
                  <a:pt x="19034" y="1940927"/>
                  <a:pt x="1138721" y="3060360"/>
                  <a:pt x="2514982" y="3060360"/>
                </a:cubicBezTo>
                <a:cubicBezTo>
                  <a:pt x="2537315" y="3060360"/>
                  <a:pt x="2559394" y="3059599"/>
                  <a:pt x="2581473" y="3058838"/>
                </a:cubicBezTo>
                <a:lnTo>
                  <a:pt x="2593655" y="3058584"/>
                </a:lnTo>
                <a:cubicBezTo>
                  <a:pt x="2593909" y="3058584"/>
                  <a:pt x="2593909" y="3058584"/>
                  <a:pt x="2594163" y="3058584"/>
                </a:cubicBezTo>
                <a:cubicBezTo>
                  <a:pt x="2593909" y="3058584"/>
                  <a:pt x="2593655" y="3058584"/>
                  <a:pt x="2593655" y="3058584"/>
                </a:cubicBezTo>
                <a:close/>
              </a:path>
            </a:pathLst>
          </a:custGeom>
          <a:solidFill>
            <a:srgbClr val="EF9F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8C1F1FED-AAA4-4963-B259-C36667822505}"/>
              </a:ext>
            </a:extLst>
          </p:cNvPr>
          <p:cNvSpPr/>
          <p:nvPr/>
        </p:nvSpPr>
        <p:spPr>
          <a:xfrm>
            <a:off x="4147902" y="1544486"/>
            <a:ext cx="2393778" cy="1926699"/>
          </a:xfrm>
          <a:custGeom>
            <a:avLst/>
            <a:gdLst>
              <a:gd name="connsiteX0" fmla="*/ 2593909 w 3121522"/>
              <a:gd name="connsiteY0" fmla="*/ 20810 h 2512444"/>
              <a:gd name="connsiteX1" fmla="*/ 2593655 w 3121522"/>
              <a:gd name="connsiteY1" fmla="*/ 20810 h 2512444"/>
              <a:gd name="connsiteX2" fmla="*/ 2581220 w 3121522"/>
              <a:gd name="connsiteY2" fmla="*/ 20303 h 2512444"/>
              <a:gd name="connsiteX3" fmla="*/ 2514982 w 3121522"/>
              <a:gd name="connsiteY3" fmla="*/ 19034 h 2512444"/>
              <a:gd name="connsiteX4" fmla="*/ 19034 w 3121522"/>
              <a:gd name="connsiteY4" fmla="*/ 2514982 h 2512444"/>
              <a:gd name="connsiteX5" fmla="*/ 564666 w 3121522"/>
              <a:gd name="connsiteY5" fmla="*/ 1969350 h 2512444"/>
              <a:gd name="connsiteX6" fmla="*/ 1110298 w 3121522"/>
              <a:gd name="connsiteY6" fmla="*/ 2514982 h 2512444"/>
              <a:gd name="connsiteX7" fmla="*/ 2514982 w 3121522"/>
              <a:gd name="connsiteY7" fmla="*/ 1110297 h 2512444"/>
              <a:gd name="connsiteX8" fmla="*/ 2543914 w 3121522"/>
              <a:gd name="connsiteY8" fmla="*/ 1111059 h 2512444"/>
              <a:gd name="connsiteX9" fmla="*/ 2559648 w 3121522"/>
              <a:gd name="connsiteY9" fmla="*/ 1111566 h 2512444"/>
              <a:gd name="connsiteX10" fmla="*/ 2559648 w 3121522"/>
              <a:gd name="connsiteY10" fmla="*/ 1111566 h 2512444"/>
              <a:gd name="connsiteX11" fmla="*/ 3122030 w 3121522"/>
              <a:gd name="connsiteY11" fmla="*/ 583192 h 2512444"/>
              <a:gd name="connsiteX12" fmla="*/ 2593909 w 3121522"/>
              <a:gd name="connsiteY12" fmla="*/ 20810 h 251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21522" h="2512444">
                <a:moveTo>
                  <a:pt x="2593909" y="20810"/>
                </a:moveTo>
                <a:cubicBezTo>
                  <a:pt x="2593909" y="20810"/>
                  <a:pt x="2593655" y="20810"/>
                  <a:pt x="2593655" y="20810"/>
                </a:cubicBezTo>
                <a:lnTo>
                  <a:pt x="2581220" y="20303"/>
                </a:lnTo>
                <a:cubicBezTo>
                  <a:pt x="2559141" y="19795"/>
                  <a:pt x="2537062" y="19034"/>
                  <a:pt x="2514982" y="19034"/>
                </a:cubicBezTo>
                <a:cubicBezTo>
                  <a:pt x="1138721" y="19034"/>
                  <a:pt x="19034" y="1138721"/>
                  <a:pt x="19034" y="2514982"/>
                </a:cubicBezTo>
                <a:cubicBezTo>
                  <a:pt x="19034" y="2213743"/>
                  <a:pt x="263426" y="1969350"/>
                  <a:pt x="564666" y="1969350"/>
                </a:cubicBezTo>
                <a:cubicBezTo>
                  <a:pt x="865905" y="1969350"/>
                  <a:pt x="1110298" y="2213489"/>
                  <a:pt x="1110298" y="2514982"/>
                </a:cubicBezTo>
                <a:cubicBezTo>
                  <a:pt x="1110298" y="1740439"/>
                  <a:pt x="1740439" y="1110297"/>
                  <a:pt x="2514982" y="1110297"/>
                </a:cubicBezTo>
                <a:cubicBezTo>
                  <a:pt x="2524626" y="1110297"/>
                  <a:pt x="2534270" y="1110805"/>
                  <a:pt x="2543914" y="1111059"/>
                </a:cubicBezTo>
                <a:lnTo>
                  <a:pt x="2559648" y="1111566"/>
                </a:lnTo>
                <a:cubicBezTo>
                  <a:pt x="2559648" y="1111566"/>
                  <a:pt x="2559648" y="1111566"/>
                  <a:pt x="2559648" y="1111566"/>
                </a:cubicBezTo>
                <a:cubicBezTo>
                  <a:pt x="2861395" y="1121464"/>
                  <a:pt x="3112640" y="884431"/>
                  <a:pt x="3122030" y="583192"/>
                </a:cubicBezTo>
                <a:cubicBezTo>
                  <a:pt x="3131420" y="282206"/>
                  <a:pt x="2895148" y="30454"/>
                  <a:pt x="2593909" y="20810"/>
                </a:cubicBezTo>
                <a:close/>
              </a:path>
            </a:pathLst>
          </a:custGeom>
          <a:solidFill>
            <a:srgbClr val="B5331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AEB4B77-E173-4ECC-990B-56BB26EA0C36}"/>
              </a:ext>
            </a:extLst>
          </p:cNvPr>
          <p:cNvSpPr/>
          <p:nvPr/>
        </p:nvSpPr>
        <p:spPr>
          <a:xfrm>
            <a:off x="8278853" y="3340513"/>
            <a:ext cx="319574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/>
              <a:t>Everyone is a change agent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557500D-0093-4069-8B7A-EFBEBDBCFBAB}"/>
              </a:ext>
            </a:extLst>
          </p:cNvPr>
          <p:cNvSpPr/>
          <p:nvPr/>
        </p:nvSpPr>
        <p:spPr>
          <a:xfrm>
            <a:off x="1974159" y="3378008"/>
            <a:ext cx="20382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Celebrate success</a:t>
            </a:r>
            <a:endParaRPr lang="ko-KR" altLang="en-US" sz="16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97AFA53-0EB0-4120-9DB9-2C587A4CD321}"/>
              </a:ext>
            </a:extLst>
          </p:cNvPr>
          <p:cNvSpPr/>
          <p:nvPr/>
        </p:nvSpPr>
        <p:spPr>
          <a:xfrm>
            <a:off x="4759953" y="5599967"/>
            <a:ext cx="27141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Aim for perfection</a:t>
            </a:r>
            <a:endParaRPr lang="ko-KR" altLang="en-US" sz="1600" b="1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582C776-852A-42DA-B302-3B84D82F48C1}"/>
              </a:ext>
            </a:extLst>
          </p:cNvPr>
          <p:cNvGrpSpPr/>
          <p:nvPr/>
        </p:nvGrpSpPr>
        <p:grpSpPr>
          <a:xfrm>
            <a:off x="7344702" y="3318031"/>
            <a:ext cx="409044" cy="414389"/>
            <a:chOff x="2767384" y="4895564"/>
            <a:chExt cx="386334" cy="391382"/>
          </a:xfrm>
          <a:solidFill>
            <a:schemeClr val="bg1"/>
          </a:solidFill>
        </p:grpSpPr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3F4C82D-B181-4094-A0E9-67E76221B5FB}"/>
                </a:ext>
              </a:extLst>
            </p:cNvPr>
            <p:cNvSpPr/>
            <p:nvPr/>
          </p:nvSpPr>
          <p:spPr>
            <a:xfrm>
              <a:off x="2946455" y="4895564"/>
              <a:ext cx="28575" cy="57150"/>
            </a:xfrm>
            <a:custGeom>
              <a:avLst/>
              <a:gdLst>
                <a:gd name="connsiteX0" fmla="*/ 18288 w 28575"/>
                <a:gd name="connsiteY0" fmla="*/ 53340 h 57150"/>
                <a:gd name="connsiteX1" fmla="*/ 29432 w 28575"/>
                <a:gd name="connsiteY1" fmla="*/ 42196 h 57150"/>
                <a:gd name="connsiteX2" fmla="*/ 29432 w 28575"/>
                <a:gd name="connsiteY2" fmla="*/ 18288 h 57150"/>
                <a:gd name="connsiteX3" fmla="*/ 18288 w 28575"/>
                <a:gd name="connsiteY3" fmla="*/ 7144 h 57150"/>
                <a:gd name="connsiteX4" fmla="*/ 7144 w 28575"/>
                <a:gd name="connsiteY4" fmla="*/ 18288 h 57150"/>
                <a:gd name="connsiteX5" fmla="*/ 7144 w 28575"/>
                <a:gd name="connsiteY5" fmla="*/ 42196 h 57150"/>
                <a:gd name="connsiteX6" fmla="*/ 18288 w 28575"/>
                <a:gd name="connsiteY6" fmla="*/ 5334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18288" y="53340"/>
                  </a:moveTo>
                  <a:cubicBezTo>
                    <a:pt x="24479" y="53340"/>
                    <a:pt x="29432" y="48387"/>
                    <a:pt x="29432" y="42196"/>
                  </a:cubicBezTo>
                  <a:lnTo>
                    <a:pt x="29432" y="18288"/>
                  </a:lnTo>
                  <a:cubicBezTo>
                    <a:pt x="29432" y="12097"/>
                    <a:pt x="24479" y="7144"/>
                    <a:pt x="18288" y="7144"/>
                  </a:cubicBezTo>
                  <a:cubicBezTo>
                    <a:pt x="12097" y="7144"/>
                    <a:pt x="7144" y="12097"/>
                    <a:pt x="7144" y="18288"/>
                  </a:cubicBezTo>
                  <a:lnTo>
                    <a:pt x="7144" y="42196"/>
                  </a:lnTo>
                  <a:cubicBezTo>
                    <a:pt x="7144" y="48387"/>
                    <a:pt x="12097" y="53340"/>
                    <a:pt x="18288" y="5334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530F3D9F-697B-411E-9494-F948B4B172FA}"/>
                </a:ext>
              </a:extLst>
            </p:cNvPr>
            <p:cNvSpPr/>
            <p:nvPr/>
          </p:nvSpPr>
          <p:spPr>
            <a:xfrm>
              <a:off x="2827128" y="5015293"/>
              <a:ext cx="57150" cy="28575"/>
            </a:xfrm>
            <a:custGeom>
              <a:avLst/>
              <a:gdLst>
                <a:gd name="connsiteX0" fmla="*/ 18267 w 57150"/>
                <a:gd name="connsiteY0" fmla="*/ 29432 h 28575"/>
                <a:gd name="connsiteX1" fmla="*/ 41889 w 57150"/>
                <a:gd name="connsiteY1" fmla="*/ 29432 h 28575"/>
                <a:gd name="connsiteX2" fmla="*/ 53223 w 57150"/>
                <a:gd name="connsiteY2" fmla="*/ 19526 h 28575"/>
                <a:gd name="connsiteX3" fmla="*/ 42174 w 57150"/>
                <a:gd name="connsiteY3" fmla="*/ 7144 h 28575"/>
                <a:gd name="connsiteX4" fmla="*/ 18552 w 57150"/>
                <a:gd name="connsiteY4" fmla="*/ 7144 h 28575"/>
                <a:gd name="connsiteX5" fmla="*/ 7218 w 57150"/>
                <a:gd name="connsiteY5" fmla="*/ 17050 h 28575"/>
                <a:gd name="connsiteX6" fmla="*/ 18267 w 5715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8575">
                  <a:moveTo>
                    <a:pt x="18267" y="29432"/>
                  </a:moveTo>
                  <a:lnTo>
                    <a:pt x="41889" y="29432"/>
                  </a:lnTo>
                  <a:cubicBezTo>
                    <a:pt x="47604" y="29432"/>
                    <a:pt x="52652" y="25241"/>
                    <a:pt x="53223" y="19526"/>
                  </a:cubicBezTo>
                  <a:cubicBezTo>
                    <a:pt x="53985" y="12763"/>
                    <a:pt x="48747" y="7144"/>
                    <a:pt x="42174" y="7144"/>
                  </a:cubicBezTo>
                  <a:lnTo>
                    <a:pt x="18552" y="7144"/>
                  </a:lnTo>
                  <a:cubicBezTo>
                    <a:pt x="12837" y="7144"/>
                    <a:pt x="7789" y="11335"/>
                    <a:pt x="7218" y="17050"/>
                  </a:cubicBezTo>
                  <a:cubicBezTo>
                    <a:pt x="6456" y="23717"/>
                    <a:pt x="11694" y="29432"/>
                    <a:pt x="18267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34F5962D-477C-47B1-ABAF-C049ADFC6ADF}"/>
                </a:ext>
              </a:extLst>
            </p:cNvPr>
            <p:cNvSpPr/>
            <p:nvPr/>
          </p:nvSpPr>
          <p:spPr>
            <a:xfrm>
              <a:off x="3042012" y="5015293"/>
              <a:ext cx="57150" cy="28575"/>
            </a:xfrm>
            <a:custGeom>
              <a:avLst/>
              <a:gdLst>
                <a:gd name="connsiteX0" fmla="*/ 18552 w 57150"/>
                <a:gd name="connsiteY0" fmla="*/ 29432 h 28575"/>
                <a:gd name="connsiteX1" fmla="*/ 41889 w 57150"/>
                <a:gd name="connsiteY1" fmla="*/ 29432 h 28575"/>
                <a:gd name="connsiteX2" fmla="*/ 53223 w 57150"/>
                <a:gd name="connsiteY2" fmla="*/ 19526 h 28575"/>
                <a:gd name="connsiteX3" fmla="*/ 42174 w 57150"/>
                <a:gd name="connsiteY3" fmla="*/ 7144 h 28575"/>
                <a:gd name="connsiteX4" fmla="*/ 18267 w 57150"/>
                <a:gd name="connsiteY4" fmla="*/ 7144 h 28575"/>
                <a:gd name="connsiteX5" fmla="*/ 7218 w 57150"/>
                <a:gd name="connsiteY5" fmla="*/ 19526 h 28575"/>
                <a:gd name="connsiteX6" fmla="*/ 18552 w 5715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8575">
                  <a:moveTo>
                    <a:pt x="18552" y="29432"/>
                  </a:moveTo>
                  <a:lnTo>
                    <a:pt x="41889" y="29432"/>
                  </a:lnTo>
                  <a:cubicBezTo>
                    <a:pt x="47604" y="29432"/>
                    <a:pt x="52652" y="25241"/>
                    <a:pt x="53223" y="19526"/>
                  </a:cubicBezTo>
                  <a:cubicBezTo>
                    <a:pt x="53985" y="12763"/>
                    <a:pt x="48747" y="7144"/>
                    <a:pt x="42174" y="7144"/>
                  </a:cubicBezTo>
                  <a:lnTo>
                    <a:pt x="18267" y="7144"/>
                  </a:lnTo>
                  <a:cubicBezTo>
                    <a:pt x="11694" y="7144"/>
                    <a:pt x="6456" y="12859"/>
                    <a:pt x="7218" y="19526"/>
                  </a:cubicBezTo>
                  <a:cubicBezTo>
                    <a:pt x="7789" y="25241"/>
                    <a:pt x="12837" y="29432"/>
                    <a:pt x="18552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4CCAF6C4-82C9-44D4-A878-FD8C05721509}"/>
                </a:ext>
              </a:extLst>
            </p:cNvPr>
            <p:cNvSpPr/>
            <p:nvPr/>
          </p:nvSpPr>
          <p:spPr>
            <a:xfrm>
              <a:off x="2862015" y="4930663"/>
              <a:ext cx="47625" cy="47625"/>
            </a:xfrm>
            <a:custGeom>
              <a:avLst/>
              <a:gdLst>
                <a:gd name="connsiteX0" fmla="*/ 27289 w 47625"/>
                <a:gd name="connsiteY0" fmla="*/ 43005 h 47625"/>
                <a:gd name="connsiteX1" fmla="*/ 43005 w 47625"/>
                <a:gd name="connsiteY1" fmla="*/ 43005 h 47625"/>
                <a:gd name="connsiteX2" fmla="*/ 43005 w 47625"/>
                <a:gd name="connsiteY2" fmla="*/ 27289 h 47625"/>
                <a:gd name="connsiteX3" fmla="*/ 26146 w 47625"/>
                <a:gd name="connsiteY3" fmla="*/ 10430 h 47625"/>
                <a:gd name="connsiteX4" fmla="*/ 10430 w 47625"/>
                <a:gd name="connsiteY4" fmla="*/ 10430 h 47625"/>
                <a:gd name="connsiteX5" fmla="*/ 10430 w 47625"/>
                <a:gd name="connsiteY5" fmla="*/ 26146 h 47625"/>
                <a:gd name="connsiteX6" fmla="*/ 27289 w 47625"/>
                <a:gd name="connsiteY6" fmla="*/ 4300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47625">
                  <a:moveTo>
                    <a:pt x="27289" y="43005"/>
                  </a:moveTo>
                  <a:cubicBezTo>
                    <a:pt x="31671" y="47387"/>
                    <a:pt x="38719" y="47387"/>
                    <a:pt x="43005" y="43005"/>
                  </a:cubicBezTo>
                  <a:cubicBezTo>
                    <a:pt x="47387" y="38624"/>
                    <a:pt x="47387" y="31575"/>
                    <a:pt x="43005" y="27289"/>
                  </a:cubicBezTo>
                  <a:lnTo>
                    <a:pt x="26146" y="10430"/>
                  </a:lnTo>
                  <a:cubicBezTo>
                    <a:pt x="21765" y="6048"/>
                    <a:pt x="14716" y="6048"/>
                    <a:pt x="10430" y="10430"/>
                  </a:cubicBezTo>
                  <a:cubicBezTo>
                    <a:pt x="6048" y="14811"/>
                    <a:pt x="6048" y="21860"/>
                    <a:pt x="10430" y="26146"/>
                  </a:cubicBezTo>
                  <a:lnTo>
                    <a:pt x="27289" y="430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4440A2E5-A924-4276-9949-6C50220E6926}"/>
                </a:ext>
              </a:extLst>
            </p:cNvPr>
            <p:cNvSpPr/>
            <p:nvPr/>
          </p:nvSpPr>
          <p:spPr>
            <a:xfrm>
              <a:off x="3014034" y="4930663"/>
              <a:ext cx="47625" cy="47625"/>
            </a:xfrm>
            <a:custGeom>
              <a:avLst/>
              <a:gdLst>
                <a:gd name="connsiteX0" fmla="*/ 26146 w 47625"/>
                <a:gd name="connsiteY0" fmla="*/ 43005 h 47625"/>
                <a:gd name="connsiteX1" fmla="*/ 43005 w 47625"/>
                <a:gd name="connsiteY1" fmla="*/ 26146 h 47625"/>
                <a:gd name="connsiteX2" fmla="*/ 43005 w 47625"/>
                <a:gd name="connsiteY2" fmla="*/ 10430 h 47625"/>
                <a:gd name="connsiteX3" fmla="*/ 27289 w 47625"/>
                <a:gd name="connsiteY3" fmla="*/ 10430 h 47625"/>
                <a:gd name="connsiteX4" fmla="*/ 10430 w 47625"/>
                <a:gd name="connsiteY4" fmla="*/ 27289 h 47625"/>
                <a:gd name="connsiteX5" fmla="*/ 10430 w 47625"/>
                <a:gd name="connsiteY5" fmla="*/ 43005 h 47625"/>
                <a:gd name="connsiteX6" fmla="*/ 26146 w 47625"/>
                <a:gd name="connsiteY6" fmla="*/ 4300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47625">
                  <a:moveTo>
                    <a:pt x="26146" y="43005"/>
                  </a:moveTo>
                  <a:lnTo>
                    <a:pt x="43005" y="26146"/>
                  </a:lnTo>
                  <a:cubicBezTo>
                    <a:pt x="47387" y="21765"/>
                    <a:pt x="47387" y="14716"/>
                    <a:pt x="43005" y="10430"/>
                  </a:cubicBezTo>
                  <a:cubicBezTo>
                    <a:pt x="38624" y="6048"/>
                    <a:pt x="31575" y="6048"/>
                    <a:pt x="27289" y="10430"/>
                  </a:cubicBezTo>
                  <a:lnTo>
                    <a:pt x="10430" y="27289"/>
                  </a:lnTo>
                  <a:cubicBezTo>
                    <a:pt x="6048" y="31671"/>
                    <a:pt x="6048" y="38719"/>
                    <a:pt x="10430" y="43005"/>
                  </a:cubicBezTo>
                  <a:cubicBezTo>
                    <a:pt x="14716" y="47387"/>
                    <a:pt x="21765" y="47387"/>
                    <a:pt x="26146" y="43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DC58B70A-536F-45FF-93B1-48C111099A1B}"/>
                </a:ext>
              </a:extLst>
            </p:cNvPr>
            <p:cNvSpPr/>
            <p:nvPr/>
          </p:nvSpPr>
          <p:spPr>
            <a:xfrm>
              <a:off x="2802437" y="5086731"/>
              <a:ext cx="104775" cy="104775"/>
            </a:xfrm>
            <a:custGeom>
              <a:avLst/>
              <a:gdLst>
                <a:gd name="connsiteX0" fmla="*/ 54864 w 104775"/>
                <a:gd name="connsiteY0" fmla="*/ 102584 h 104775"/>
                <a:gd name="connsiteX1" fmla="*/ 102584 w 104775"/>
                <a:gd name="connsiteY1" fmla="*/ 54864 h 104775"/>
                <a:gd name="connsiteX2" fmla="*/ 54864 w 104775"/>
                <a:gd name="connsiteY2" fmla="*/ 7144 h 104775"/>
                <a:gd name="connsiteX3" fmla="*/ 7144 w 104775"/>
                <a:gd name="connsiteY3" fmla="*/ 54864 h 104775"/>
                <a:gd name="connsiteX4" fmla="*/ 54864 w 104775"/>
                <a:gd name="connsiteY4" fmla="*/ 10258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54864" y="102584"/>
                  </a:moveTo>
                  <a:cubicBezTo>
                    <a:pt x="81153" y="102584"/>
                    <a:pt x="102584" y="81153"/>
                    <a:pt x="102584" y="54864"/>
                  </a:cubicBezTo>
                  <a:cubicBezTo>
                    <a:pt x="102584" y="28575"/>
                    <a:pt x="81153" y="7144"/>
                    <a:pt x="54864" y="7144"/>
                  </a:cubicBezTo>
                  <a:cubicBezTo>
                    <a:pt x="28575" y="7144"/>
                    <a:pt x="7144" y="28575"/>
                    <a:pt x="7144" y="54864"/>
                  </a:cubicBezTo>
                  <a:cubicBezTo>
                    <a:pt x="7144" y="81153"/>
                    <a:pt x="28575" y="102584"/>
                    <a:pt x="54864" y="1025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014EB0F1-9E6E-4B78-B471-630FFE1527C8}"/>
                </a:ext>
              </a:extLst>
            </p:cNvPr>
            <p:cNvSpPr/>
            <p:nvPr/>
          </p:nvSpPr>
          <p:spPr>
            <a:xfrm>
              <a:off x="2767384" y="5182171"/>
              <a:ext cx="171450" cy="104775"/>
            </a:xfrm>
            <a:custGeom>
              <a:avLst/>
              <a:gdLst>
                <a:gd name="connsiteX0" fmla="*/ 89916 w 171450"/>
                <a:gd name="connsiteY0" fmla="*/ 7144 h 104775"/>
                <a:gd name="connsiteX1" fmla="*/ 7144 w 171450"/>
                <a:gd name="connsiteY1" fmla="*/ 89916 h 104775"/>
                <a:gd name="connsiteX2" fmla="*/ 18288 w 171450"/>
                <a:gd name="connsiteY2" fmla="*/ 101060 h 104775"/>
                <a:gd name="connsiteX3" fmla="*/ 161544 w 171450"/>
                <a:gd name="connsiteY3" fmla="*/ 101060 h 104775"/>
                <a:gd name="connsiteX4" fmla="*/ 172688 w 171450"/>
                <a:gd name="connsiteY4" fmla="*/ 89916 h 104775"/>
                <a:gd name="connsiteX5" fmla="*/ 89916 w 171450"/>
                <a:gd name="connsiteY5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1450" h="104775">
                  <a:moveTo>
                    <a:pt x="89916" y="7144"/>
                  </a:moveTo>
                  <a:cubicBezTo>
                    <a:pt x="44196" y="7144"/>
                    <a:pt x="7144" y="44196"/>
                    <a:pt x="7144" y="89916"/>
                  </a:cubicBezTo>
                  <a:cubicBezTo>
                    <a:pt x="7144" y="96107"/>
                    <a:pt x="12097" y="101060"/>
                    <a:pt x="18288" y="101060"/>
                  </a:cubicBezTo>
                  <a:lnTo>
                    <a:pt x="161544" y="101060"/>
                  </a:lnTo>
                  <a:cubicBezTo>
                    <a:pt x="167735" y="101060"/>
                    <a:pt x="172688" y="96107"/>
                    <a:pt x="172688" y="89916"/>
                  </a:cubicBezTo>
                  <a:cubicBezTo>
                    <a:pt x="172688" y="44196"/>
                    <a:pt x="135636" y="7144"/>
                    <a:pt x="8991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DB8193A2-EBC4-4063-A4FB-4062755863C6}"/>
                </a:ext>
              </a:extLst>
            </p:cNvPr>
            <p:cNvSpPr/>
            <p:nvPr/>
          </p:nvSpPr>
          <p:spPr>
            <a:xfrm>
              <a:off x="3017321" y="5086635"/>
              <a:ext cx="104775" cy="104775"/>
            </a:xfrm>
            <a:custGeom>
              <a:avLst/>
              <a:gdLst>
                <a:gd name="connsiteX0" fmla="*/ 7144 w 104775"/>
                <a:gd name="connsiteY0" fmla="*/ 54864 h 104775"/>
                <a:gd name="connsiteX1" fmla="*/ 54864 w 104775"/>
                <a:gd name="connsiteY1" fmla="*/ 102584 h 104775"/>
                <a:gd name="connsiteX2" fmla="*/ 102584 w 104775"/>
                <a:gd name="connsiteY2" fmla="*/ 54864 h 104775"/>
                <a:gd name="connsiteX3" fmla="*/ 54864 w 104775"/>
                <a:gd name="connsiteY3" fmla="*/ 7144 h 104775"/>
                <a:gd name="connsiteX4" fmla="*/ 7144 w 104775"/>
                <a:gd name="connsiteY4" fmla="*/ 5486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7144" y="54864"/>
                  </a:moveTo>
                  <a:cubicBezTo>
                    <a:pt x="7144" y="81153"/>
                    <a:pt x="28575" y="102584"/>
                    <a:pt x="54864" y="102584"/>
                  </a:cubicBezTo>
                  <a:cubicBezTo>
                    <a:pt x="81153" y="102584"/>
                    <a:pt x="102584" y="81153"/>
                    <a:pt x="102584" y="54864"/>
                  </a:cubicBezTo>
                  <a:cubicBezTo>
                    <a:pt x="102584" y="28575"/>
                    <a:pt x="81153" y="7144"/>
                    <a:pt x="54864" y="7144"/>
                  </a:cubicBezTo>
                  <a:cubicBezTo>
                    <a:pt x="28575" y="7144"/>
                    <a:pt x="7144" y="28575"/>
                    <a:pt x="7144" y="548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E161230D-DA2C-4285-B83F-25EA06E28015}"/>
                </a:ext>
              </a:extLst>
            </p:cNvPr>
            <p:cNvSpPr/>
            <p:nvPr/>
          </p:nvSpPr>
          <p:spPr>
            <a:xfrm>
              <a:off x="2982268" y="5182171"/>
              <a:ext cx="171450" cy="104775"/>
            </a:xfrm>
            <a:custGeom>
              <a:avLst/>
              <a:gdLst>
                <a:gd name="connsiteX0" fmla="*/ 89916 w 171450"/>
                <a:gd name="connsiteY0" fmla="*/ 7144 h 104775"/>
                <a:gd name="connsiteX1" fmla="*/ 7144 w 171450"/>
                <a:gd name="connsiteY1" fmla="*/ 89916 h 104775"/>
                <a:gd name="connsiteX2" fmla="*/ 18288 w 171450"/>
                <a:gd name="connsiteY2" fmla="*/ 101060 h 104775"/>
                <a:gd name="connsiteX3" fmla="*/ 161544 w 171450"/>
                <a:gd name="connsiteY3" fmla="*/ 101060 h 104775"/>
                <a:gd name="connsiteX4" fmla="*/ 172688 w 171450"/>
                <a:gd name="connsiteY4" fmla="*/ 89916 h 104775"/>
                <a:gd name="connsiteX5" fmla="*/ 89916 w 171450"/>
                <a:gd name="connsiteY5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1450" h="104775">
                  <a:moveTo>
                    <a:pt x="89916" y="7144"/>
                  </a:moveTo>
                  <a:cubicBezTo>
                    <a:pt x="44196" y="7144"/>
                    <a:pt x="7144" y="44196"/>
                    <a:pt x="7144" y="89916"/>
                  </a:cubicBezTo>
                  <a:cubicBezTo>
                    <a:pt x="7144" y="96107"/>
                    <a:pt x="12097" y="101060"/>
                    <a:pt x="18288" y="101060"/>
                  </a:cubicBezTo>
                  <a:lnTo>
                    <a:pt x="161544" y="101060"/>
                  </a:lnTo>
                  <a:cubicBezTo>
                    <a:pt x="167735" y="101060"/>
                    <a:pt x="172688" y="96107"/>
                    <a:pt x="172688" y="89916"/>
                  </a:cubicBezTo>
                  <a:cubicBezTo>
                    <a:pt x="172688" y="44196"/>
                    <a:pt x="135636" y="7144"/>
                    <a:pt x="8991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0000D8D3-99DE-47A9-9F16-CBD9B18188D1}"/>
                </a:ext>
              </a:extLst>
            </p:cNvPr>
            <p:cNvSpPr/>
            <p:nvPr/>
          </p:nvSpPr>
          <p:spPr>
            <a:xfrm>
              <a:off x="2895590" y="4963973"/>
              <a:ext cx="133350" cy="142875"/>
            </a:xfrm>
            <a:custGeom>
              <a:avLst/>
              <a:gdLst>
                <a:gd name="connsiteX0" fmla="*/ 26480 w 133350"/>
                <a:gd name="connsiteY0" fmla="*/ 114090 h 142875"/>
                <a:gd name="connsiteX1" fmla="*/ 38006 w 133350"/>
                <a:gd name="connsiteY1" fmla="*/ 136473 h 142875"/>
                <a:gd name="connsiteX2" fmla="*/ 100394 w 133350"/>
                <a:gd name="connsiteY2" fmla="*/ 136473 h 142875"/>
                <a:gd name="connsiteX3" fmla="*/ 111920 w 133350"/>
                <a:gd name="connsiteY3" fmla="*/ 114185 h 142875"/>
                <a:gd name="connsiteX4" fmla="*/ 129446 w 133350"/>
                <a:gd name="connsiteY4" fmla="*/ 53891 h 142875"/>
                <a:gd name="connsiteX5" fmla="*/ 88202 w 133350"/>
                <a:gd name="connsiteY5" fmla="*/ 9981 h 142875"/>
                <a:gd name="connsiteX6" fmla="*/ 7145 w 133350"/>
                <a:gd name="connsiteY6" fmla="*/ 69227 h 142875"/>
                <a:gd name="connsiteX7" fmla="*/ 26480 w 133350"/>
                <a:gd name="connsiteY7" fmla="*/ 11409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350" h="142875">
                  <a:moveTo>
                    <a:pt x="26480" y="114090"/>
                  </a:moveTo>
                  <a:cubicBezTo>
                    <a:pt x="32672" y="120090"/>
                    <a:pt x="36767" y="127996"/>
                    <a:pt x="38006" y="136473"/>
                  </a:cubicBezTo>
                  <a:lnTo>
                    <a:pt x="100394" y="136473"/>
                  </a:lnTo>
                  <a:cubicBezTo>
                    <a:pt x="101728" y="127996"/>
                    <a:pt x="105728" y="120090"/>
                    <a:pt x="111920" y="114185"/>
                  </a:cubicBezTo>
                  <a:cubicBezTo>
                    <a:pt x="128017" y="98849"/>
                    <a:pt x="134780" y="76656"/>
                    <a:pt x="129446" y="53891"/>
                  </a:cubicBezTo>
                  <a:cubicBezTo>
                    <a:pt x="124588" y="33032"/>
                    <a:pt x="108776" y="16173"/>
                    <a:pt x="88202" y="9981"/>
                  </a:cubicBezTo>
                  <a:cubicBezTo>
                    <a:pt x="45911" y="-2687"/>
                    <a:pt x="7145" y="28841"/>
                    <a:pt x="7145" y="69227"/>
                  </a:cubicBezTo>
                  <a:cubicBezTo>
                    <a:pt x="7049" y="86086"/>
                    <a:pt x="14193" y="102469"/>
                    <a:pt x="26480" y="1140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792C83D7-1FDF-4E55-A400-7ED981C6BE28}"/>
                </a:ext>
              </a:extLst>
            </p:cNvPr>
            <p:cNvSpPr/>
            <p:nvPr/>
          </p:nvSpPr>
          <p:spPr>
            <a:xfrm>
              <a:off x="2927500" y="5115591"/>
              <a:ext cx="66675" cy="38100"/>
            </a:xfrm>
            <a:custGeom>
              <a:avLst/>
              <a:gdLst>
                <a:gd name="connsiteX0" fmla="*/ 7144 w 66675"/>
                <a:gd name="connsiteY0" fmla="*/ 7144 h 38100"/>
                <a:gd name="connsiteX1" fmla="*/ 37243 w 66675"/>
                <a:gd name="connsiteY1" fmla="*/ 31909 h 38100"/>
                <a:gd name="connsiteX2" fmla="*/ 67342 w 66675"/>
                <a:gd name="connsiteY2" fmla="*/ 7144 h 38100"/>
                <a:gd name="connsiteX3" fmla="*/ 7144 w 66675"/>
                <a:gd name="connsiteY3" fmla="*/ 714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38100">
                  <a:moveTo>
                    <a:pt x="7144" y="7144"/>
                  </a:moveTo>
                  <a:cubicBezTo>
                    <a:pt x="9906" y="21241"/>
                    <a:pt x="22384" y="31909"/>
                    <a:pt x="37243" y="31909"/>
                  </a:cubicBezTo>
                  <a:cubicBezTo>
                    <a:pt x="52292" y="31909"/>
                    <a:pt x="64579" y="21146"/>
                    <a:pt x="67342" y="7144"/>
                  </a:cubicBez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FFC4B40-430A-46C9-8A9D-CC13132F3796}"/>
              </a:ext>
            </a:extLst>
          </p:cNvPr>
          <p:cNvGrpSpPr/>
          <p:nvPr/>
        </p:nvGrpSpPr>
        <p:grpSpPr>
          <a:xfrm>
            <a:off x="5907968" y="1761790"/>
            <a:ext cx="412626" cy="403095"/>
            <a:chOff x="7463066" y="2241184"/>
            <a:chExt cx="389716" cy="380715"/>
          </a:xfrm>
          <a:solidFill>
            <a:schemeClr val="bg1"/>
          </a:solidFill>
        </p:grpSpPr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1F5AB13C-0531-4CA9-8167-1D3FDDF1A3AD}"/>
                </a:ext>
              </a:extLst>
            </p:cNvPr>
            <p:cNvSpPr/>
            <p:nvPr/>
          </p:nvSpPr>
          <p:spPr>
            <a:xfrm>
              <a:off x="7681332" y="2241184"/>
              <a:ext cx="171450" cy="161925"/>
            </a:xfrm>
            <a:custGeom>
              <a:avLst/>
              <a:gdLst>
                <a:gd name="connsiteX0" fmla="*/ 165925 w 171450"/>
                <a:gd name="connsiteY0" fmla="*/ 105966 h 161925"/>
                <a:gd name="connsiteX1" fmla="*/ 70390 w 171450"/>
                <a:gd name="connsiteY1" fmla="*/ 10430 h 161925"/>
                <a:gd name="connsiteX2" fmla="*/ 54673 w 171450"/>
                <a:gd name="connsiteY2" fmla="*/ 10430 h 161925"/>
                <a:gd name="connsiteX3" fmla="*/ 7144 w 171450"/>
                <a:gd name="connsiteY3" fmla="*/ 57960 h 161925"/>
                <a:gd name="connsiteX4" fmla="*/ 55340 w 171450"/>
                <a:gd name="connsiteY4" fmla="*/ 83201 h 161925"/>
                <a:gd name="connsiteX5" fmla="*/ 129921 w 171450"/>
                <a:gd name="connsiteY5" fmla="*/ 157782 h 161925"/>
                <a:gd name="connsiteX6" fmla="*/ 165925 w 171450"/>
                <a:gd name="connsiteY6" fmla="*/ 121777 h 161925"/>
                <a:gd name="connsiteX7" fmla="*/ 165925 w 171450"/>
                <a:gd name="connsiteY7" fmla="*/ 105966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450" h="161925">
                  <a:moveTo>
                    <a:pt x="165925" y="105966"/>
                  </a:moveTo>
                  <a:lnTo>
                    <a:pt x="70390" y="10430"/>
                  </a:lnTo>
                  <a:cubicBezTo>
                    <a:pt x="66008" y="6048"/>
                    <a:pt x="58960" y="6048"/>
                    <a:pt x="54673" y="10430"/>
                  </a:cubicBezTo>
                  <a:lnTo>
                    <a:pt x="7144" y="57960"/>
                  </a:lnTo>
                  <a:cubicBezTo>
                    <a:pt x="25241" y="61198"/>
                    <a:pt x="42005" y="69866"/>
                    <a:pt x="55340" y="83201"/>
                  </a:cubicBezTo>
                  <a:lnTo>
                    <a:pt x="129921" y="157782"/>
                  </a:lnTo>
                  <a:lnTo>
                    <a:pt x="165925" y="121777"/>
                  </a:lnTo>
                  <a:cubicBezTo>
                    <a:pt x="170307" y="117396"/>
                    <a:pt x="170307" y="110347"/>
                    <a:pt x="165925" y="1059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221BA06B-090F-4FBF-9A76-388195B3A70C}"/>
                </a:ext>
              </a:extLst>
            </p:cNvPr>
            <p:cNvSpPr/>
            <p:nvPr/>
          </p:nvSpPr>
          <p:spPr>
            <a:xfrm>
              <a:off x="7463066" y="2241565"/>
              <a:ext cx="342900" cy="352425"/>
            </a:xfrm>
            <a:custGeom>
              <a:avLst/>
              <a:gdLst>
                <a:gd name="connsiteX0" fmla="*/ 257985 w 342900"/>
                <a:gd name="connsiteY0" fmla="*/ 98917 h 352425"/>
                <a:gd name="connsiteX1" fmla="*/ 209312 w 342900"/>
                <a:gd name="connsiteY1" fmla="*/ 78819 h 352425"/>
                <a:gd name="connsiteX2" fmla="*/ 190071 w 342900"/>
                <a:gd name="connsiteY2" fmla="*/ 78819 h 352425"/>
                <a:gd name="connsiteX3" fmla="*/ 121682 w 342900"/>
                <a:gd name="connsiteY3" fmla="*/ 10430 h 352425"/>
                <a:gd name="connsiteX4" fmla="*/ 105966 w 342900"/>
                <a:gd name="connsiteY4" fmla="*/ 10430 h 352425"/>
                <a:gd name="connsiteX5" fmla="*/ 10430 w 342900"/>
                <a:gd name="connsiteY5" fmla="*/ 105966 h 352425"/>
                <a:gd name="connsiteX6" fmla="*/ 10430 w 342900"/>
                <a:gd name="connsiteY6" fmla="*/ 121682 h 352425"/>
                <a:gd name="connsiteX7" fmla="*/ 66818 w 342900"/>
                <a:gd name="connsiteY7" fmla="*/ 178070 h 352425"/>
                <a:gd name="connsiteX8" fmla="*/ 66818 w 342900"/>
                <a:gd name="connsiteY8" fmla="*/ 220837 h 352425"/>
                <a:gd name="connsiteX9" fmla="*/ 99012 w 342900"/>
                <a:gd name="connsiteY9" fmla="*/ 188643 h 352425"/>
                <a:gd name="connsiteX10" fmla="*/ 131683 w 342900"/>
                <a:gd name="connsiteY10" fmla="*/ 175117 h 352425"/>
                <a:gd name="connsiteX11" fmla="*/ 164354 w 342900"/>
                <a:gd name="connsiteY11" fmla="*/ 188643 h 352425"/>
                <a:gd name="connsiteX12" fmla="*/ 177784 w 342900"/>
                <a:gd name="connsiteY12" fmla="*/ 218646 h 352425"/>
                <a:gd name="connsiteX13" fmla="*/ 192167 w 342900"/>
                <a:gd name="connsiteY13" fmla="*/ 228457 h 352425"/>
                <a:gd name="connsiteX14" fmla="*/ 205597 w 342900"/>
                <a:gd name="connsiteY14" fmla="*/ 258461 h 352425"/>
                <a:gd name="connsiteX15" fmla="*/ 219980 w 342900"/>
                <a:gd name="connsiteY15" fmla="*/ 268272 h 352425"/>
                <a:gd name="connsiteX16" fmla="*/ 232172 w 342900"/>
                <a:gd name="connsiteY16" fmla="*/ 289893 h 352425"/>
                <a:gd name="connsiteX17" fmla="*/ 253794 w 342900"/>
                <a:gd name="connsiteY17" fmla="*/ 302085 h 352425"/>
                <a:gd name="connsiteX18" fmla="*/ 267319 w 342900"/>
                <a:gd name="connsiteY18" fmla="*/ 334756 h 352425"/>
                <a:gd name="connsiteX19" fmla="*/ 262843 w 342900"/>
                <a:gd name="connsiteY19" fmla="*/ 354568 h 352425"/>
                <a:gd name="connsiteX20" fmla="*/ 279797 w 342900"/>
                <a:gd name="connsiteY20" fmla="*/ 345615 h 352425"/>
                <a:gd name="connsiteX21" fmla="*/ 287036 w 342900"/>
                <a:gd name="connsiteY21" fmla="*/ 310944 h 352425"/>
                <a:gd name="connsiteX22" fmla="*/ 304943 w 342900"/>
                <a:gd name="connsiteY22" fmla="*/ 269129 h 352425"/>
                <a:gd name="connsiteX23" fmla="*/ 322850 w 342900"/>
                <a:gd name="connsiteY23" fmla="*/ 227314 h 352425"/>
                <a:gd name="connsiteX24" fmla="*/ 333518 w 342900"/>
                <a:gd name="connsiteY24" fmla="*/ 174641 h 352425"/>
                <a:gd name="connsiteX25" fmla="*/ 257985 w 342900"/>
                <a:gd name="connsiteY25" fmla="*/ 98917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42900" h="352425">
                  <a:moveTo>
                    <a:pt x="257985" y="98917"/>
                  </a:moveTo>
                  <a:cubicBezTo>
                    <a:pt x="245031" y="85963"/>
                    <a:pt x="227695" y="78819"/>
                    <a:pt x="209312" y="78819"/>
                  </a:cubicBezTo>
                  <a:lnTo>
                    <a:pt x="190071" y="78819"/>
                  </a:lnTo>
                  <a:lnTo>
                    <a:pt x="121682" y="10430"/>
                  </a:lnTo>
                  <a:cubicBezTo>
                    <a:pt x="117300" y="6048"/>
                    <a:pt x="110252" y="6048"/>
                    <a:pt x="105966" y="10430"/>
                  </a:cubicBezTo>
                  <a:lnTo>
                    <a:pt x="10430" y="105966"/>
                  </a:lnTo>
                  <a:cubicBezTo>
                    <a:pt x="6048" y="110347"/>
                    <a:pt x="6048" y="117396"/>
                    <a:pt x="10430" y="121682"/>
                  </a:cubicBezTo>
                  <a:lnTo>
                    <a:pt x="66818" y="178070"/>
                  </a:lnTo>
                  <a:lnTo>
                    <a:pt x="66818" y="220837"/>
                  </a:lnTo>
                  <a:lnTo>
                    <a:pt x="99012" y="188643"/>
                  </a:lnTo>
                  <a:cubicBezTo>
                    <a:pt x="107775" y="179880"/>
                    <a:pt x="119301" y="175117"/>
                    <a:pt x="131683" y="175117"/>
                  </a:cubicBezTo>
                  <a:cubicBezTo>
                    <a:pt x="143971" y="175117"/>
                    <a:pt x="155591" y="179880"/>
                    <a:pt x="164354" y="188643"/>
                  </a:cubicBezTo>
                  <a:cubicBezTo>
                    <a:pt x="172641" y="196929"/>
                    <a:pt x="177118" y="207693"/>
                    <a:pt x="177784" y="218646"/>
                  </a:cubicBezTo>
                  <a:cubicBezTo>
                    <a:pt x="183118" y="220932"/>
                    <a:pt x="187976" y="224266"/>
                    <a:pt x="192167" y="228457"/>
                  </a:cubicBezTo>
                  <a:cubicBezTo>
                    <a:pt x="200454" y="236744"/>
                    <a:pt x="204930" y="247507"/>
                    <a:pt x="205597" y="258461"/>
                  </a:cubicBezTo>
                  <a:cubicBezTo>
                    <a:pt x="210931" y="260747"/>
                    <a:pt x="215789" y="264081"/>
                    <a:pt x="219980" y="268272"/>
                  </a:cubicBezTo>
                  <a:cubicBezTo>
                    <a:pt x="226172" y="274463"/>
                    <a:pt x="230172" y="281892"/>
                    <a:pt x="232172" y="289893"/>
                  </a:cubicBezTo>
                  <a:cubicBezTo>
                    <a:pt x="240268" y="291894"/>
                    <a:pt x="247698" y="296085"/>
                    <a:pt x="253794" y="302085"/>
                  </a:cubicBezTo>
                  <a:cubicBezTo>
                    <a:pt x="262462" y="310848"/>
                    <a:pt x="267319" y="322374"/>
                    <a:pt x="267319" y="334756"/>
                  </a:cubicBezTo>
                  <a:cubicBezTo>
                    <a:pt x="267319" y="341709"/>
                    <a:pt x="265795" y="348472"/>
                    <a:pt x="262843" y="354568"/>
                  </a:cubicBezTo>
                  <a:cubicBezTo>
                    <a:pt x="269034" y="353425"/>
                    <a:pt x="275035" y="350472"/>
                    <a:pt x="279797" y="345615"/>
                  </a:cubicBezTo>
                  <a:cubicBezTo>
                    <a:pt x="294275" y="331137"/>
                    <a:pt x="288084" y="313706"/>
                    <a:pt x="287036" y="310944"/>
                  </a:cubicBezTo>
                  <a:cubicBezTo>
                    <a:pt x="304086" y="304086"/>
                    <a:pt x="311230" y="285131"/>
                    <a:pt x="304943" y="269129"/>
                  </a:cubicBezTo>
                  <a:cubicBezTo>
                    <a:pt x="319421" y="263319"/>
                    <a:pt x="330089" y="245793"/>
                    <a:pt x="322850" y="227314"/>
                  </a:cubicBezTo>
                  <a:cubicBezTo>
                    <a:pt x="344091" y="218742"/>
                    <a:pt x="349901" y="190929"/>
                    <a:pt x="333518" y="174641"/>
                  </a:cubicBezTo>
                  <a:lnTo>
                    <a:pt x="257985" y="9891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113482E0-55FF-413D-A4B2-9030B8C01118}"/>
                </a:ext>
              </a:extLst>
            </p:cNvPr>
            <p:cNvSpPr/>
            <p:nvPr/>
          </p:nvSpPr>
          <p:spPr>
            <a:xfrm>
              <a:off x="7533932" y="2431399"/>
              <a:ext cx="180975" cy="190500"/>
            </a:xfrm>
            <a:custGeom>
              <a:avLst/>
              <a:gdLst>
                <a:gd name="connsiteX0" fmla="*/ 133303 w 180975"/>
                <a:gd name="connsiteY0" fmla="*/ 127587 h 190500"/>
                <a:gd name="connsiteX1" fmla="*/ 133303 w 180975"/>
                <a:gd name="connsiteY1" fmla="*/ 93774 h 190500"/>
                <a:gd name="connsiteX2" fmla="*/ 99489 w 180975"/>
                <a:gd name="connsiteY2" fmla="*/ 93774 h 190500"/>
                <a:gd name="connsiteX3" fmla="*/ 105489 w 180975"/>
                <a:gd name="connsiteY3" fmla="*/ 87773 h 190500"/>
                <a:gd name="connsiteX4" fmla="*/ 105489 w 180975"/>
                <a:gd name="connsiteY4" fmla="*/ 53959 h 190500"/>
                <a:gd name="connsiteX5" fmla="*/ 71676 w 180975"/>
                <a:gd name="connsiteY5" fmla="*/ 53959 h 190500"/>
                <a:gd name="connsiteX6" fmla="*/ 77677 w 180975"/>
                <a:gd name="connsiteY6" fmla="*/ 47958 h 190500"/>
                <a:gd name="connsiteX7" fmla="*/ 77677 w 180975"/>
                <a:gd name="connsiteY7" fmla="*/ 14145 h 190500"/>
                <a:gd name="connsiteX8" fmla="*/ 43863 w 180975"/>
                <a:gd name="connsiteY8" fmla="*/ 14145 h 190500"/>
                <a:gd name="connsiteX9" fmla="*/ 14145 w 180975"/>
                <a:gd name="connsiteY9" fmla="*/ 43863 h 190500"/>
                <a:gd name="connsiteX10" fmla="*/ 14145 w 180975"/>
                <a:gd name="connsiteY10" fmla="*/ 77676 h 190500"/>
                <a:gd name="connsiteX11" fmla="*/ 47959 w 180975"/>
                <a:gd name="connsiteY11" fmla="*/ 77676 h 190500"/>
                <a:gd name="connsiteX12" fmla="*/ 47959 w 180975"/>
                <a:gd name="connsiteY12" fmla="*/ 111490 h 190500"/>
                <a:gd name="connsiteX13" fmla="*/ 81772 w 180975"/>
                <a:gd name="connsiteY13" fmla="*/ 111490 h 190500"/>
                <a:gd name="connsiteX14" fmla="*/ 81772 w 180975"/>
                <a:gd name="connsiteY14" fmla="*/ 145304 h 190500"/>
                <a:gd name="connsiteX15" fmla="*/ 115586 w 180975"/>
                <a:gd name="connsiteY15" fmla="*/ 145304 h 190500"/>
                <a:gd name="connsiteX16" fmla="*/ 115586 w 180975"/>
                <a:gd name="connsiteY16" fmla="*/ 179118 h 190500"/>
                <a:gd name="connsiteX17" fmla="*/ 149400 w 180975"/>
                <a:gd name="connsiteY17" fmla="*/ 179118 h 190500"/>
                <a:gd name="connsiteX18" fmla="*/ 167212 w 180975"/>
                <a:gd name="connsiteY18" fmla="*/ 161306 h 190500"/>
                <a:gd name="connsiteX19" fmla="*/ 167212 w 180975"/>
                <a:gd name="connsiteY19" fmla="*/ 127492 h 190500"/>
                <a:gd name="connsiteX20" fmla="*/ 133303 w 180975"/>
                <a:gd name="connsiteY20" fmla="*/ 127587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0975" h="190500">
                  <a:moveTo>
                    <a:pt x="133303" y="127587"/>
                  </a:moveTo>
                  <a:cubicBezTo>
                    <a:pt x="142637" y="118253"/>
                    <a:pt x="142637" y="103108"/>
                    <a:pt x="133303" y="93774"/>
                  </a:cubicBezTo>
                  <a:cubicBezTo>
                    <a:pt x="123968" y="84439"/>
                    <a:pt x="108823" y="84439"/>
                    <a:pt x="99489" y="93774"/>
                  </a:cubicBezTo>
                  <a:lnTo>
                    <a:pt x="105489" y="87773"/>
                  </a:lnTo>
                  <a:cubicBezTo>
                    <a:pt x="114824" y="78438"/>
                    <a:pt x="114824" y="63294"/>
                    <a:pt x="105489" y="53959"/>
                  </a:cubicBezTo>
                  <a:cubicBezTo>
                    <a:pt x="96155" y="44625"/>
                    <a:pt x="81010" y="44625"/>
                    <a:pt x="71676" y="53959"/>
                  </a:cubicBezTo>
                  <a:lnTo>
                    <a:pt x="77677" y="47958"/>
                  </a:lnTo>
                  <a:cubicBezTo>
                    <a:pt x="87011" y="38624"/>
                    <a:pt x="87011" y="23479"/>
                    <a:pt x="77677" y="14145"/>
                  </a:cubicBezTo>
                  <a:cubicBezTo>
                    <a:pt x="68342" y="4810"/>
                    <a:pt x="53197" y="4810"/>
                    <a:pt x="43863" y="14145"/>
                  </a:cubicBezTo>
                  <a:lnTo>
                    <a:pt x="14145" y="43863"/>
                  </a:lnTo>
                  <a:cubicBezTo>
                    <a:pt x="4810" y="53197"/>
                    <a:pt x="4810" y="68342"/>
                    <a:pt x="14145" y="77676"/>
                  </a:cubicBezTo>
                  <a:cubicBezTo>
                    <a:pt x="23479" y="87011"/>
                    <a:pt x="38624" y="87011"/>
                    <a:pt x="47959" y="77676"/>
                  </a:cubicBezTo>
                  <a:cubicBezTo>
                    <a:pt x="38624" y="87011"/>
                    <a:pt x="38624" y="102156"/>
                    <a:pt x="47959" y="111490"/>
                  </a:cubicBezTo>
                  <a:cubicBezTo>
                    <a:pt x="57293" y="120825"/>
                    <a:pt x="72438" y="120825"/>
                    <a:pt x="81772" y="111490"/>
                  </a:cubicBezTo>
                  <a:cubicBezTo>
                    <a:pt x="72438" y="120825"/>
                    <a:pt x="72438" y="135969"/>
                    <a:pt x="81772" y="145304"/>
                  </a:cubicBezTo>
                  <a:cubicBezTo>
                    <a:pt x="91107" y="154638"/>
                    <a:pt x="106252" y="154638"/>
                    <a:pt x="115586" y="145304"/>
                  </a:cubicBezTo>
                  <a:cubicBezTo>
                    <a:pt x="106252" y="154638"/>
                    <a:pt x="106252" y="169783"/>
                    <a:pt x="115586" y="179118"/>
                  </a:cubicBezTo>
                  <a:cubicBezTo>
                    <a:pt x="124921" y="188452"/>
                    <a:pt x="140065" y="188452"/>
                    <a:pt x="149400" y="179118"/>
                  </a:cubicBezTo>
                  <a:lnTo>
                    <a:pt x="167212" y="161306"/>
                  </a:lnTo>
                  <a:cubicBezTo>
                    <a:pt x="176546" y="151971"/>
                    <a:pt x="176546" y="136827"/>
                    <a:pt x="167212" y="127492"/>
                  </a:cubicBezTo>
                  <a:cubicBezTo>
                    <a:pt x="157782" y="118253"/>
                    <a:pt x="142637" y="118253"/>
                    <a:pt x="133303" y="127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3F07A80-C290-8E7B-E244-DD5E61A34428}"/>
              </a:ext>
            </a:extLst>
          </p:cNvPr>
          <p:cNvSpPr txBox="1"/>
          <p:nvPr/>
        </p:nvSpPr>
        <p:spPr>
          <a:xfrm>
            <a:off x="4703250" y="212323"/>
            <a:ext cx="2785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Call to 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3298B-B957-1450-CEC9-91DAF910997D}"/>
              </a:ext>
            </a:extLst>
          </p:cNvPr>
          <p:cNvSpPr txBox="1"/>
          <p:nvPr/>
        </p:nvSpPr>
        <p:spPr>
          <a:xfrm>
            <a:off x="4827147" y="1084075"/>
            <a:ext cx="24785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Commit to the process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7D5B43-3149-B5FB-EF42-EB0C862A2DB3}"/>
              </a:ext>
            </a:extLst>
          </p:cNvPr>
          <p:cNvSpPr txBox="1"/>
          <p:nvPr/>
        </p:nvSpPr>
        <p:spPr>
          <a:xfrm>
            <a:off x="5508858" y="2994939"/>
            <a:ext cx="1185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Udon-</a:t>
            </a:r>
            <a:r>
              <a:rPr lang="en-US" dirty="0" err="1">
                <a:latin typeface="+mj-lt"/>
              </a:rPr>
              <a:t>ya</a:t>
            </a:r>
            <a:r>
              <a:rPr lang="en-US" dirty="0">
                <a:latin typeface="+mj-lt"/>
              </a:rPr>
              <a:t>  </a:t>
            </a:r>
          </a:p>
          <a:p>
            <a:r>
              <a:rPr lang="en-US" dirty="0">
                <a:latin typeface="+mj-lt"/>
              </a:rPr>
              <a:t>Franchise  Readiness</a:t>
            </a:r>
          </a:p>
        </p:txBody>
      </p:sp>
      <p:grpSp>
        <p:nvGrpSpPr>
          <p:cNvPr id="20" name="그룹 57">
            <a:extLst>
              <a:ext uri="{FF2B5EF4-FFF2-40B4-BE49-F238E27FC236}">
                <a16:creationId xmlns:a16="http://schemas.microsoft.com/office/drawing/2014/main" id="{47DBB32E-F328-458E-8276-680FC48002AE}"/>
              </a:ext>
            </a:extLst>
          </p:cNvPr>
          <p:cNvGrpSpPr/>
          <p:nvPr/>
        </p:nvGrpSpPr>
        <p:grpSpPr>
          <a:xfrm>
            <a:off x="6004347" y="4756941"/>
            <a:ext cx="391810" cy="391808"/>
            <a:chOff x="752656" y="1562597"/>
            <a:chExt cx="390525" cy="390525"/>
          </a:xfrm>
          <a:solidFill>
            <a:schemeClr val="bg1"/>
          </a:solidFill>
        </p:grpSpPr>
        <p:sp>
          <p:nvSpPr>
            <p:cNvPr id="21" name="자유형: 도형 58">
              <a:extLst>
                <a:ext uri="{FF2B5EF4-FFF2-40B4-BE49-F238E27FC236}">
                  <a16:creationId xmlns:a16="http://schemas.microsoft.com/office/drawing/2014/main" id="{5E31F43A-74A8-4B3B-BEB7-750C61BBCECF}"/>
                </a:ext>
              </a:extLst>
            </p:cNvPr>
            <p:cNvSpPr/>
            <p:nvPr/>
          </p:nvSpPr>
          <p:spPr>
            <a:xfrm>
              <a:off x="797621" y="1607153"/>
              <a:ext cx="209550" cy="161925"/>
            </a:xfrm>
            <a:custGeom>
              <a:avLst/>
              <a:gdLst>
                <a:gd name="connsiteX0" fmla="*/ 26568 w 209550"/>
                <a:gd name="connsiteY0" fmla="*/ 159925 h 161925"/>
                <a:gd name="connsiteX1" fmla="*/ 85528 w 209550"/>
                <a:gd name="connsiteY1" fmla="*/ 100965 h 161925"/>
                <a:gd name="connsiteX2" fmla="*/ 102292 w 209550"/>
                <a:gd name="connsiteY2" fmla="*/ 117729 h 161925"/>
                <a:gd name="connsiteX3" fmla="*/ 113437 w 209550"/>
                <a:gd name="connsiteY3" fmla="*/ 117729 h 161925"/>
                <a:gd name="connsiteX4" fmla="*/ 185922 w 209550"/>
                <a:gd name="connsiteY4" fmla="*/ 45244 h 161925"/>
                <a:gd name="connsiteX5" fmla="*/ 185922 w 209550"/>
                <a:gd name="connsiteY5" fmla="*/ 64770 h 161925"/>
                <a:gd name="connsiteX6" fmla="*/ 189065 w 209550"/>
                <a:gd name="connsiteY6" fmla="*/ 71152 h 161925"/>
                <a:gd name="connsiteX7" fmla="*/ 208210 w 209550"/>
                <a:gd name="connsiteY7" fmla="*/ 62865 h 161925"/>
                <a:gd name="connsiteX8" fmla="*/ 208210 w 209550"/>
                <a:gd name="connsiteY8" fmla="*/ 18288 h 161925"/>
                <a:gd name="connsiteX9" fmla="*/ 197066 w 209550"/>
                <a:gd name="connsiteY9" fmla="*/ 7144 h 161925"/>
                <a:gd name="connsiteX10" fmla="*/ 150584 w 209550"/>
                <a:gd name="connsiteY10" fmla="*/ 7144 h 161925"/>
                <a:gd name="connsiteX11" fmla="*/ 144202 w 209550"/>
                <a:gd name="connsiteY11" fmla="*/ 10287 h 161925"/>
                <a:gd name="connsiteX12" fmla="*/ 152489 w 209550"/>
                <a:gd name="connsiteY12" fmla="*/ 29432 h 161925"/>
                <a:gd name="connsiteX13" fmla="*/ 170205 w 209550"/>
                <a:gd name="connsiteY13" fmla="*/ 29432 h 161925"/>
                <a:gd name="connsiteX14" fmla="*/ 107912 w 209550"/>
                <a:gd name="connsiteY14" fmla="*/ 91726 h 161925"/>
                <a:gd name="connsiteX15" fmla="*/ 91148 w 209550"/>
                <a:gd name="connsiteY15" fmla="*/ 74962 h 161925"/>
                <a:gd name="connsiteX16" fmla="*/ 80004 w 209550"/>
                <a:gd name="connsiteY16" fmla="*/ 74962 h 161925"/>
                <a:gd name="connsiteX17" fmla="*/ 9519 w 209550"/>
                <a:gd name="connsiteY17" fmla="*/ 145447 h 161925"/>
                <a:gd name="connsiteX18" fmla="*/ 7233 w 209550"/>
                <a:gd name="connsiteY18" fmla="*/ 152209 h 161925"/>
                <a:gd name="connsiteX19" fmla="*/ 26568 w 209550"/>
                <a:gd name="connsiteY19" fmla="*/ 159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9550" h="161925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9FAFC"/>
                </a:solidFill>
              </a:endParaRPr>
            </a:p>
          </p:txBody>
        </p:sp>
        <p:sp>
          <p:nvSpPr>
            <p:cNvPr id="22" name="자유형: 도형 59">
              <a:extLst>
                <a:ext uri="{FF2B5EF4-FFF2-40B4-BE49-F238E27FC236}">
                  <a16:creationId xmlns:a16="http://schemas.microsoft.com/office/drawing/2014/main" id="{C6A40335-9FE2-4504-A2F5-D07D96F593DC}"/>
                </a:ext>
              </a:extLst>
            </p:cNvPr>
            <p:cNvSpPr/>
            <p:nvPr/>
          </p:nvSpPr>
          <p:spPr>
            <a:xfrm>
              <a:off x="797995" y="1807749"/>
              <a:ext cx="95250" cy="104775"/>
            </a:xfrm>
            <a:custGeom>
              <a:avLst/>
              <a:gdLst>
                <a:gd name="connsiteX0" fmla="*/ 18288 w 95250"/>
                <a:gd name="connsiteY0" fmla="*/ 97822 h 104775"/>
                <a:gd name="connsiteX1" fmla="*/ 85154 w 95250"/>
                <a:gd name="connsiteY1" fmla="*/ 97822 h 104775"/>
                <a:gd name="connsiteX2" fmla="*/ 96298 w 95250"/>
                <a:gd name="connsiteY2" fmla="*/ 86677 h 104775"/>
                <a:gd name="connsiteX3" fmla="*/ 96298 w 95250"/>
                <a:gd name="connsiteY3" fmla="*/ 18288 h 104775"/>
                <a:gd name="connsiteX4" fmla="*/ 85154 w 95250"/>
                <a:gd name="connsiteY4" fmla="*/ 7144 h 104775"/>
                <a:gd name="connsiteX5" fmla="*/ 18288 w 95250"/>
                <a:gd name="connsiteY5" fmla="*/ 7144 h 104775"/>
                <a:gd name="connsiteX6" fmla="*/ 7144 w 95250"/>
                <a:gd name="connsiteY6" fmla="*/ 18288 h 104775"/>
                <a:gd name="connsiteX7" fmla="*/ 7144 w 95250"/>
                <a:gd name="connsiteY7" fmla="*/ 86677 h 104775"/>
                <a:gd name="connsiteX8" fmla="*/ 18288 w 95250"/>
                <a:gd name="connsiteY8" fmla="*/ 978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04775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9FAFC"/>
                </a:solidFill>
              </a:endParaRPr>
            </a:p>
          </p:txBody>
        </p:sp>
        <p:sp>
          <p:nvSpPr>
            <p:cNvPr id="23" name="자유형: 도형 60">
              <a:extLst>
                <a:ext uri="{FF2B5EF4-FFF2-40B4-BE49-F238E27FC236}">
                  <a16:creationId xmlns:a16="http://schemas.microsoft.com/office/drawing/2014/main" id="{854A2AA2-4719-4FFA-96CE-4FE741078CB6}"/>
                </a:ext>
              </a:extLst>
            </p:cNvPr>
            <p:cNvSpPr/>
            <p:nvPr/>
          </p:nvSpPr>
          <p:spPr>
            <a:xfrm>
              <a:off x="909438" y="1740884"/>
              <a:ext cx="95250" cy="171450"/>
            </a:xfrm>
            <a:custGeom>
              <a:avLst/>
              <a:gdLst>
                <a:gd name="connsiteX0" fmla="*/ 85153 w 95250"/>
                <a:gd name="connsiteY0" fmla="*/ 7144 h 171450"/>
                <a:gd name="connsiteX1" fmla="*/ 18288 w 95250"/>
                <a:gd name="connsiteY1" fmla="*/ 7144 h 171450"/>
                <a:gd name="connsiteX2" fmla="*/ 7144 w 95250"/>
                <a:gd name="connsiteY2" fmla="*/ 18288 h 171450"/>
                <a:gd name="connsiteX3" fmla="*/ 7144 w 95250"/>
                <a:gd name="connsiteY3" fmla="*/ 153543 h 171450"/>
                <a:gd name="connsiteX4" fmla="*/ 18288 w 95250"/>
                <a:gd name="connsiteY4" fmla="*/ 164687 h 171450"/>
                <a:gd name="connsiteX5" fmla="*/ 85153 w 95250"/>
                <a:gd name="connsiteY5" fmla="*/ 164687 h 171450"/>
                <a:gd name="connsiteX6" fmla="*/ 96298 w 95250"/>
                <a:gd name="connsiteY6" fmla="*/ 153543 h 171450"/>
                <a:gd name="connsiteX7" fmla="*/ 96298 w 95250"/>
                <a:gd name="connsiteY7" fmla="*/ 18288 h 171450"/>
                <a:gd name="connsiteX8" fmla="*/ 85153 w 95250"/>
                <a:gd name="connsiteY8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714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9FAFC"/>
                </a:solidFill>
              </a:endParaRPr>
            </a:p>
          </p:txBody>
        </p:sp>
        <p:sp>
          <p:nvSpPr>
            <p:cNvPr id="24" name="자유형: 도형 61">
              <a:extLst>
                <a:ext uri="{FF2B5EF4-FFF2-40B4-BE49-F238E27FC236}">
                  <a16:creationId xmlns:a16="http://schemas.microsoft.com/office/drawing/2014/main" id="{0E4D10A7-9CBD-4F79-B10D-1D66564F25CC}"/>
                </a:ext>
              </a:extLst>
            </p:cNvPr>
            <p:cNvSpPr/>
            <p:nvPr/>
          </p:nvSpPr>
          <p:spPr>
            <a:xfrm>
              <a:off x="998589" y="1607534"/>
              <a:ext cx="142875" cy="304800"/>
            </a:xfrm>
            <a:custGeom>
              <a:avLst/>
              <a:gdLst>
                <a:gd name="connsiteX0" fmla="*/ 18291 w 142875"/>
                <a:gd name="connsiteY0" fmla="*/ 118205 h 304800"/>
                <a:gd name="connsiteX1" fmla="*/ 29435 w 142875"/>
                <a:gd name="connsiteY1" fmla="*/ 118205 h 304800"/>
                <a:gd name="connsiteX2" fmla="*/ 29435 w 142875"/>
                <a:gd name="connsiteY2" fmla="*/ 286893 h 304800"/>
                <a:gd name="connsiteX3" fmla="*/ 40580 w 142875"/>
                <a:gd name="connsiteY3" fmla="*/ 298037 h 304800"/>
                <a:gd name="connsiteX4" fmla="*/ 108207 w 142875"/>
                <a:gd name="connsiteY4" fmla="*/ 298037 h 304800"/>
                <a:gd name="connsiteX5" fmla="*/ 119352 w 142875"/>
                <a:gd name="connsiteY5" fmla="*/ 286893 h 304800"/>
                <a:gd name="connsiteX6" fmla="*/ 119352 w 142875"/>
                <a:gd name="connsiteY6" fmla="*/ 118205 h 304800"/>
                <a:gd name="connsiteX7" fmla="*/ 130496 w 142875"/>
                <a:gd name="connsiteY7" fmla="*/ 118205 h 304800"/>
                <a:gd name="connsiteX8" fmla="*/ 140211 w 142875"/>
                <a:gd name="connsiteY8" fmla="*/ 112490 h 304800"/>
                <a:gd name="connsiteX9" fmla="*/ 139926 w 142875"/>
                <a:gd name="connsiteY9" fmla="*/ 101156 h 304800"/>
                <a:gd name="connsiteX10" fmla="*/ 83442 w 142875"/>
                <a:gd name="connsiteY10" fmla="*/ 12002 h 304800"/>
                <a:gd name="connsiteX11" fmla="*/ 64583 w 142875"/>
                <a:gd name="connsiteY11" fmla="*/ 12002 h 304800"/>
                <a:gd name="connsiteX12" fmla="*/ 8861 w 142875"/>
                <a:gd name="connsiteY12" fmla="*/ 101156 h 304800"/>
                <a:gd name="connsiteX13" fmla="*/ 8576 w 142875"/>
                <a:gd name="connsiteY13" fmla="*/ 112490 h 304800"/>
                <a:gd name="connsiteX14" fmla="*/ 18291 w 142875"/>
                <a:gd name="connsiteY14" fmla="*/ 118205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875" h="304800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9FAFC"/>
                </a:solidFill>
              </a:endParaRPr>
            </a:p>
          </p:txBody>
        </p:sp>
        <p:sp>
          <p:nvSpPr>
            <p:cNvPr id="25" name="자유형: 도형 62">
              <a:extLst>
                <a:ext uri="{FF2B5EF4-FFF2-40B4-BE49-F238E27FC236}">
                  <a16:creationId xmlns:a16="http://schemas.microsoft.com/office/drawing/2014/main" id="{CB238D4E-FA6C-4C30-8F09-DE64CBBA74B7}"/>
                </a:ext>
              </a:extLst>
            </p:cNvPr>
            <p:cNvSpPr/>
            <p:nvPr/>
          </p:nvSpPr>
          <p:spPr>
            <a:xfrm>
              <a:off x="752656" y="1562597"/>
              <a:ext cx="390525" cy="390525"/>
            </a:xfrm>
            <a:custGeom>
              <a:avLst/>
              <a:gdLst>
                <a:gd name="connsiteX0" fmla="*/ 376142 w 390525"/>
                <a:gd name="connsiteY0" fmla="*/ 365262 h 390525"/>
                <a:gd name="connsiteX1" fmla="*/ 29432 w 390525"/>
                <a:gd name="connsiteY1" fmla="*/ 365262 h 390525"/>
                <a:gd name="connsiteX2" fmla="*/ 29432 w 390525"/>
                <a:gd name="connsiteY2" fmla="*/ 18552 h 390525"/>
                <a:gd name="connsiteX3" fmla="*/ 19526 w 390525"/>
                <a:gd name="connsiteY3" fmla="*/ 7218 h 390525"/>
                <a:gd name="connsiteX4" fmla="*/ 7144 w 390525"/>
                <a:gd name="connsiteY4" fmla="*/ 18267 h 390525"/>
                <a:gd name="connsiteX5" fmla="*/ 7144 w 390525"/>
                <a:gd name="connsiteY5" fmla="*/ 376407 h 390525"/>
                <a:gd name="connsiteX6" fmla="*/ 18288 w 390525"/>
                <a:gd name="connsiteY6" fmla="*/ 387551 h 390525"/>
                <a:gd name="connsiteX7" fmla="*/ 376428 w 390525"/>
                <a:gd name="connsiteY7" fmla="*/ 387551 h 390525"/>
                <a:gd name="connsiteX8" fmla="*/ 387477 w 390525"/>
                <a:gd name="connsiteY8" fmla="*/ 375168 h 390525"/>
                <a:gd name="connsiteX9" fmla="*/ 376142 w 390525"/>
                <a:gd name="connsiteY9" fmla="*/ 3652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9FAFC"/>
                </a:solidFill>
              </a:endParaRPr>
            </a:p>
          </p:txBody>
        </p:sp>
      </p:grpSp>
      <p:pic>
        <p:nvPicPr>
          <p:cNvPr id="3" name="Graphic 2" descr="Ribbon with solid fill">
            <a:extLst>
              <a:ext uri="{FF2B5EF4-FFF2-40B4-BE49-F238E27FC236}">
                <a16:creationId xmlns:a16="http://schemas.microsoft.com/office/drawing/2014/main" id="{CFA33A2B-AF2F-45FA-2E5B-943B5C2DF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99747" y="3256635"/>
            <a:ext cx="570199" cy="57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53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97EF91-0278-4829-927D-D76E3128A298}"/>
              </a:ext>
            </a:extLst>
          </p:cNvPr>
          <p:cNvSpPr txBox="1"/>
          <p:nvPr/>
        </p:nvSpPr>
        <p:spPr>
          <a:xfrm>
            <a:off x="3670300" y="2659931"/>
            <a:ext cx="4851400" cy="120032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sz="7200" b="0" dirty="0"/>
              <a:t>Thanks !</a:t>
            </a:r>
          </a:p>
        </p:txBody>
      </p:sp>
    </p:spTree>
    <p:extLst>
      <p:ext uri="{BB962C8B-B14F-4D97-AF65-F5344CB8AC3E}">
        <p14:creationId xmlns:p14="http://schemas.microsoft.com/office/powerpoint/2010/main" val="1907620479"/>
      </p:ext>
    </p:extLst>
  </p:cSld>
  <p:clrMapOvr>
    <a:masterClrMapping/>
  </p:clrMapOvr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urgette - Montserrat Light">
      <a:majorFont>
        <a:latin typeface="Courgette"/>
        <a:ea typeface="Arial Unicode MS"/>
        <a:cs typeface=""/>
      </a:majorFont>
      <a:minorFont>
        <a:latin typeface="Montserrat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5331E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400" dirty="0" smtClean="0">
            <a:solidFill>
              <a:schemeClr val="bg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6095</TotalTime>
  <Words>561</Words>
  <Application>Microsoft Office PowerPoint</Application>
  <PresentationFormat>Widescreen</PresentationFormat>
  <Paragraphs>163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Montserrat</vt:lpstr>
      <vt:lpstr>Arial</vt:lpstr>
      <vt:lpstr>맑은 고딕</vt:lpstr>
      <vt:lpstr>PPTMON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Tanya Gampert</cp:lastModifiedBy>
  <cp:revision>274</cp:revision>
  <dcterms:created xsi:type="dcterms:W3CDTF">2019-04-06T05:20:47Z</dcterms:created>
  <dcterms:modified xsi:type="dcterms:W3CDTF">2025-12-08T18:42:05Z</dcterms:modified>
</cp:coreProperties>
</file>